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3"/>
    <p:sldId id="257" r:id="rId4"/>
    <p:sldId id="258" r:id="rId5"/>
    <p:sldId id="259" r:id="rId6"/>
    <p:sldId id="260" r:id="rId7"/>
    <p:sldId id="261" r:id="rId8"/>
    <p:sldId id="269" r:id="rId9"/>
    <p:sldId id="264" r:id="rId10"/>
    <p:sldId id="263" r:id="rId11"/>
    <p:sldId id="267" r:id="rId12"/>
  </p:sldIdLst>
  <p:sldSz cx="1219136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02"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showGuides="1">
      <p:cViewPr varScale="1">
        <p:scale>
          <a:sx n="124" d="100"/>
          <a:sy n="124" d="100"/>
        </p:scale>
        <p:origin x="-1512" y="-112"/>
      </p:cViewPr>
      <p:guideLst>
        <p:guide orient="horz" pos="2102"/>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5" Type="http://schemas.openxmlformats.org/officeDocument/2006/relationships/tableStyles" Target="tableStyles.xml"/><Relationship Id="rId14" Type="http://schemas.openxmlformats.org/officeDocument/2006/relationships/viewProps" Target="viewProps.xml"/><Relationship Id="rId13" Type="http://schemas.openxmlformats.org/officeDocument/2006/relationships/presProps" Target="presProps.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png"/><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4.png"/><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9F6"/>
        </a:solidFill>
        <a:effectLst/>
      </p:bgPr>
    </p:bg>
    <p:spTree>
      <p:nvGrpSpPr>
        <p:cNvPr id="1" name=""/>
        <p:cNvGrpSpPr/>
        <p:nvPr/>
      </p:nvGrpSpPr>
      <p:grpSpPr/>
      <p:sp>
        <p:nvSpPr>
          <p:cNvPr id="2" name="Rectangle 1"/>
          <p:cNvSpPr/>
          <p:nvPr/>
        </p:nvSpPr>
        <p:spPr>
          <a:xfrm>
            <a:off x="0" y="0"/>
            <a:ext cx="3749039" cy="6858000"/>
          </a:xfrm>
          <a:prstGeom prst="rect">
            <a:avLst/>
          </a:prstGeom>
          <a:solidFill>
            <a:srgbClr val="276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5160" y="2181225"/>
            <a:ext cx="2834640" cy="653415"/>
          </a:xfrm>
          <a:prstGeom prst="rect">
            <a:avLst/>
          </a:prstGeom>
          <a:noFill/>
        </p:spPr>
        <p:txBody>
          <a:bodyPr wrap="square" lIns="27432" tIns="18288" rIns="27432" bIns="18288" anchor="t">
            <a:spAutoFit/>
          </a:bodyPr>
          <a:lstStyle/>
          <a:p>
            <a:pPr algn="l">
              <a:spcAft>
                <a:spcPts val="500"/>
              </a:spcAft>
            </a:pPr>
            <a:r>
              <a:rPr lang="en-US" altLang="en-US" sz="1800" b="1">
                <a:solidFill>
                  <a:srgbClr val="FFFFFF"/>
                </a:solidFill>
                <a:latin typeface="Times New Roman" panose="02020603050405020304" charset="0"/>
                <a:cs typeface="Times New Roman" panose="02020603050405020304" charset="0"/>
              </a:rPr>
              <a:t>WATER</a:t>
            </a:r>
            <a:endParaRPr lang="en-US" altLang="en-US" sz="1800" b="1">
              <a:solidFill>
                <a:srgbClr val="FFFFFF"/>
              </a:solidFill>
              <a:latin typeface="Times New Roman" panose="02020603050405020304" charset="0"/>
              <a:cs typeface="Times New Roman" panose="02020603050405020304" charset="0"/>
            </a:endParaRPr>
          </a:p>
          <a:p>
            <a:pPr algn="l">
              <a:spcAft>
                <a:spcPts val="500"/>
              </a:spcAft>
            </a:pPr>
            <a:r>
              <a:rPr lang="en-US" altLang="en-US" sz="1800" b="1">
                <a:solidFill>
                  <a:srgbClr val="FFFFFF"/>
                </a:solidFill>
                <a:latin typeface="Times New Roman" panose="02020603050405020304" charset="0"/>
                <a:cs typeface="Times New Roman" panose="02020603050405020304" charset="0"/>
              </a:rPr>
              <a:t>MONITORING</a:t>
            </a:r>
            <a:endParaRPr lang="en-US" altLang="en-US" sz="1800" b="1">
              <a:solidFill>
                <a:srgbClr val="FFFFFF"/>
              </a:solidFill>
              <a:latin typeface="Times New Roman" panose="02020603050405020304" charset="0"/>
              <a:cs typeface="Times New Roman" panose="02020603050405020304" charset="0"/>
            </a:endParaRPr>
          </a:p>
        </p:txBody>
      </p:sp>
      <p:sp>
        <p:nvSpPr>
          <p:cNvPr id="8" name="TextBox 7"/>
          <p:cNvSpPr txBox="1"/>
          <p:nvPr/>
        </p:nvSpPr>
        <p:spPr>
          <a:xfrm>
            <a:off x="645160" y="3246120"/>
            <a:ext cx="2834640" cy="497205"/>
          </a:xfrm>
          <a:prstGeom prst="rect">
            <a:avLst/>
          </a:prstGeom>
          <a:noFill/>
        </p:spPr>
        <p:txBody>
          <a:bodyPr wrap="square" lIns="27432" tIns="18288" rIns="27432" bIns="18288" anchor="t">
            <a:spAutoFit/>
          </a:bodyPr>
          <a:lstStyle/>
          <a:p>
            <a:pPr algn="l">
              <a:spcAft>
                <a:spcPts val="500"/>
              </a:spcAft>
            </a:pPr>
            <a:r>
              <a:rPr sz="1500" b="1">
                <a:solidFill>
                  <a:srgbClr val="D0E7D3"/>
                </a:solidFill>
                <a:latin typeface="Times New Roman" panose="02020603050405020304" charset="0"/>
                <a:cs typeface="Times New Roman" panose="02020603050405020304" charset="0"/>
              </a:rPr>
              <a:t>PROJECT
PRESENTATION</a:t>
            </a:r>
            <a:endParaRPr sz="1500" b="1">
              <a:solidFill>
                <a:srgbClr val="D0E7D3"/>
              </a:solidFill>
              <a:latin typeface="Times New Roman" panose="02020603050405020304" charset="0"/>
              <a:cs typeface="Times New Roman" panose="02020603050405020304" charset="0"/>
            </a:endParaRPr>
          </a:p>
        </p:txBody>
      </p:sp>
      <p:sp>
        <p:nvSpPr>
          <p:cNvPr id="9" name="TextBox 8"/>
          <p:cNvSpPr txBox="1"/>
          <p:nvPr/>
        </p:nvSpPr>
        <p:spPr>
          <a:xfrm>
            <a:off x="4343400" y="1097280"/>
            <a:ext cx="7132320" cy="619760"/>
          </a:xfrm>
          <a:prstGeom prst="rect">
            <a:avLst/>
          </a:prstGeom>
          <a:noFill/>
        </p:spPr>
        <p:txBody>
          <a:bodyPr wrap="square" lIns="27432" tIns="18288" rIns="27432" bIns="18288" anchor="t">
            <a:spAutoFit/>
          </a:bodyPr>
          <a:lstStyle/>
          <a:p>
            <a:pPr algn="l">
              <a:spcAft>
                <a:spcPts val="500"/>
              </a:spcAft>
            </a:pPr>
            <a:r>
              <a:rPr sz="3800" b="1">
                <a:solidFill>
                  <a:srgbClr val="27633D"/>
                </a:solidFill>
                <a:latin typeface="Times New Roman" panose="02020603050405020304" charset="0"/>
                <a:cs typeface="Times New Roman" panose="02020603050405020304" charset="0"/>
              </a:rPr>
              <a:t>HydroPulse</a:t>
            </a:r>
            <a:endParaRPr sz="3800" b="1">
              <a:solidFill>
                <a:srgbClr val="27633D"/>
              </a:solidFill>
              <a:latin typeface="Times New Roman" panose="02020603050405020304" charset="0"/>
              <a:cs typeface="Times New Roman" panose="02020603050405020304" charset="0"/>
            </a:endParaRPr>
          </a:p>
        </p:txBody>
      </p:sp>
      <p:sp>
        <p:nvSpPr>
          <p:cNvPr id="10" name="TextBox 9"/>
          <p:cNvSpPr txBox="1"/>
          <p:nvPr/>
        </p:nvSpPr>
        <p:spPr>
          <a:xfrm>
            <a:off x="4370832" y="1965960"/>
            <a:ext cx="6949440" cy="868680"/>
          </a:xfrm>
          <a:prstGeom prst="rect">
            <a:avLst/>
          </a:prstGeom>
          <a:noFill/>
        </p:spPr>
        <p:txBody>
          <a:bodyPr wrap="square" lIns="27432" tIns="18288" rIns="27432" bIns="18288" anchor="t">
            <a:spAutoFit/>
          </a:bodyPr>
          <a:lstStyle/>
          <a:p>
            <a:pPr algn="l">
              <a:spcAft>
                <a:spcPts val="500"/>
              </a:spcAft>
            </a:pPr>
            <a:r>
              <a:rPr lang="en-US" sz="2500" b="1">
                <a:solidFill>
                  <a:srgbClr val="28302A"/>
                </a:solidFill>
                <a:latin typeface="Times New Roman" panose="02020603050405020304" charset="0"/>
                <a:cs typeface="Times New Roman" panose="02020603050405020304" charset="0"/>
              </a:rPr>
              <a:t>Water Monitoring and</a:t>
            </a:r>
            <a:endParaRPr lang="en-US" sz="2500" b="1">
              <a:solidFill>
                <a:srgbClr val="28302A"/>
              </a:solidFill>
              <a:latin typeface="Times New Roman" panose="02020603050405020304" charset="0"/>
              <a:cs typeface="Times New Roman" panose="02020603050405020304" charset="0"/>
            </a:endParaRPr>
          </a:p>
          <a:p>
            <a:pPr algn="l">
              <a:spcAft>
                <a:spcPts val="500"/>
              </a:spcAft>
            </a:pPr>
            <a:r>
              <a:rPr lang="en-US" sz="2500" b="1">
                <a:solidFill>
                  <a:srgbClr val="28302A"/>
                </a:solidFill>
                <a:latin typeface="Times New Roman" panose="02020603050405020304" charset="0"/>
                <a:cs typeface="Times New Roman" panose="02020603050405020304" charset="0"/>
              </a:rPr>
              <a:t> Analytics Dashboard</a:t>
            </a:r>
            <a:endParaRPr lang="en-US" sz="2500" b="1">
              <a:solidFill>
                <a:srgbClr val="28302A"/>
              </a:solidFill>
              <a:latin typeface="Times New Roman" panose="02020603050405020304" charset="0"/>
              <a:cs typeface="Times New Roman" panose="02020603050405020304" charset="0"/>
            </a:endParaRPr>
          </a:p>
        </p:txBody>
      </p:sp>
      <p:sp>
        <p:nvSpPr>
          <p:cNvPr id="11" name="Rectangle 10"/>
          <p:cNvSpPr/>
          <p:nvPr/>
        </p:nvSpPr>
        <p:spPr>
          <a:xfrm>
            <a:off x="4389120" y="3063240"/>
            <a:ext cx="1143000" cy="73152"/>
          </a:xfrm>
          <a:prstGeom prst="rect">
            <a:avLst/>
          </a:prstGeom>
          <a:solidFill>
            <a:srgbClr val="276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89120" y="3383280"/>
            <a:ext cx="1005840" cy="204470"/>
          </a:xfrm>
          <a:prstGeom prst="rect">
            <a:avLst/>
          </a:prstGeom>
          <a:noFill/>
        </p:spPr>
        <p:txBody>
          <a:bodyPr wrap="square" lIns="27432" tIns="18288" rIns="27432" bIns="18288" anchor="t">
            <a:spAutoFit/>
          </a:bodyPr>
          <a:lstStyle/>
          <a:p>
            <a:pPr algn="l">
              <a:spcAft>
                <a:spcPts val="500"/>
              </a:spcAft>
            </a:pPr>
            <a:r>
              <a:rPr sz="1100" b="1">
                <a:solidFill>
                  <a:srgbClr val="646E67"/>
                </a:solidFill>
                <a:latin typeface="Times New Roman" panose="02020603050405020304" charset="0"/>
                <a:cs typeface="Times New Roman" panose="02020603050405020304" charset="0"/>
              </a:rPr>
              <a:t>GUIDE</a:t>
            </a:r>
            <a:endParaRPr sz="1100" b="1">
              <a:solidFill>
                <a:srgbClr val="646E67"/>
              </a:solidFill>
              <a:latin typeface="Times New Roman" panose="02020603050405020304" charset="0"/>
              <a:cs typeface="Times New Roman" panose="02020603050405020304" charset="0"/>
            </a:endParaRPr>
          </a:p>
        </p:txBody>
      </p:sp>
      <p:sp>
        <p:nvSpPr>
          <p:cNvPr id="13" name="TextBox 12"/>
          <p:cNvSpPr txBox="1"/>
          <p:nvPr/>
        </p:nvSpPr>
        <p:spPr>
          <a:xfrm>
            <a:off x="4389120" y="3657600"/>
            <a:ext cx="6766560" cy="296545"/>
          </a:xfrm>
          <a:prstGeom prst="rect">
            <a:avLst/>
          </a:prstGeom>
          <a:noFill/>
        </p:spPr>
        <p:txBody>
          <a:bodyPr wrap="square" lIns="27432" tIns="18288" rIns="27432" bIns="18288" anchor="t">
            <a:spAutoFit/>
          </a:bodyPr>
          <a:lstStyle/>
          <a:p>
            <a:pPr algn="l">
              <a:spcAft>
                <a:spcPts val="500"/>
              </a:spcAft>
            </a:pPr>
            <a:r>
              <a:rPr sz="1700" b="1">
                <a:solidFill>
                  <a:srgbClr val="28302A"/>
                </a:solidFill>
                <a:latin typeface="Aptos"/>
              </a:rPr>
              <a:t>Dr. </a:t>
            </a:r>
            <a:r>
              <a:rPr sz="1700" b="1">
                <a:solidFill>
                  <a:srgbClr val="28302A"/>
                </a:solidFill>
                <a:latin typeface="Times New Roman" panose="02020603050405020304" charset="0"/>
                <a:cs typeface="Times New Roman" panose="02020603050405020304" charset="0"/>
              </a:rPr>
              <a:t>Karumuri </a:t>
            </a:r>
            <a:r>
              <a:rPr sz="1700" b="1">
                <a:solidFill>
                  <a:srgbClr val="28302A"/>
                </a:solidFill>
                <a:latin typeface="Aptos"/>
              </a:rPr>
              <a:t>Sri Rama Murthy</a:t>
            </a:r>
            <a:endParaRPr sz="1700" b="1">
              <a:solidFill>
                <a:srgbClr val="28302A"/>
              </a:solidFill>
              <a:latin typeface="Aptos"/>
            </a:endParaRPr>
          </a:p>
        </p:txBody>
      </p:sp>
      <p:sp>
        <p:nvSpPr>
          <p:cNvPr id="14" name="TextBox 13"/>
          <p:cNvSpPr txBox="1"/>
          <p:nvPr/>
        </p:nvSpPr>
        <p:spPr>
          <a:xfrm>
            <a:off x="4389120" y="4023360"/>
            <a:ext cx="6766560" cy="466090"/>
          </a:xfrm>
          <a:prstGeom prst="rect">
            <a:avLst/>
          </a:prstGeom>
          <a:noFill/>
        </p:spPr>
        <p:txBody>
          <a:bodyPr wrap="square" lIns="27432" tIns="18288" rIns="27432" bIns="18288" anchor="t">
            <a:spAutoFit/>
          </a:bodyPr>
          <a:lstStyle/>
          <a:p>
            <a:pPr algn="l">
              <a:spcAft>
                <a:spcPts val="500"/>
              </a:spcAft>
            </a:pPr>
            <a:r>
              <a:rPr sz="1400" b="0">
                <a:solidFill>
                  <a:srgbClr val="646E67"/>
                </a:solidFill>
                <a:latin typeface="Times New Roman" panose="02020603050405020304" charset="0"/>
                <a:cs typeface="Times New Roman" panose="02020603050405020304" charset="0"/>
              </a:rPr>
              <a:t>Assistant Professor  •  Department of CSE
KLU Hyderabad, Hyderabad</a:t>
            </a:r>
            <a:endParaRPr sz="1400" b="0">
              <a:solidFill>
                <a:srgbClr val="646E67"/>
              </a:solidFill>
              <a:latin typeface="Times New Roman" panose="02020603050405020304" charset="0"/>
              <a:cs typeface="Times New Roman" panose="02020603050405020304" charset="0"/>
            </a:endParaRPr>
          </a:p>
        </p:txBody>
      </p:sp>
      <p:sp>
        <p:nvSpPr>
          <p:cNvPr id="15" name="TextBox 14"/>
          <p:cNvSpPr txBox="1"/>
          <p:nvPr/>
        </p:nvSpPr>
        <p:spPr>
          <a:xfrm>
            <a:off x="4389120" y="4846320"/>
            <a:ext cx="1828800" cy="219710"/>
          </a:xfrm>
          <a:prstGeom prst="rect">
            <a:avLst/>
          </a:prstGeom>
          <a:noFill/>
        </p:spPr>
        <p:txBody>
          <a:bodyPr wrap="square" lIns="27432" tIns="18288" rIns="27432" bIns="18288" anchor="t">
            <a:spAutoFit/>
          </a:bodyPr>
          <a:lstStyle/>
          <a:p>
            <a:pPr algn="l">
              <a:spcAft>
                <a:spcPts val="500"/>
              </a:spcAft>
            </a:pPr>
            <a:r>
              <a:rPr sz="1200" b="1">
                <a:solidFill>
                  <a:srgbClr val="27633D"/>
                </a:solidFill>
                <a:latin typeface="Times New Roman" panose="02020603050405020304" charset="0"/>
                <a:cs typeface="Times New Roman" panose="02020603050405020304" charset="0"/>
              </a:rPr>
              <a:t>TEAM NO. 14</a:t>
            </a:r>
            <a:endParaRPr sz="1200" b="1">
              <a:solidFill>
                <a:srgbClr val="27633D"/>
              </a:solidFill>
              <a:latin typeface="Times New Roman" panose="02020603050405020304" charset="0"/>
              <a:cs typeface="Times New Roman" panose="02020603050405020304" charset="0"/>
            </a:endParaRPr>
          </a:p>
        </p:txBody>
      </p:sp>
      <p:sp>
        <p:nvSpPr>
          <p:cNvPr id="16" name="TextBox 15"/>
          <p:cNvSpPr txBox="1"/>
          <p:nvPr/>
        </p:nvSpPr>
        <p:spPr>
          <a:xfrm>
            <a:off x="4389120" y="5193792"/>
            <a:ext cx="6766560" cy="527685"/>
          </a:xfrm>
          <a:prstGeom prst="rect">
            <a:avLst/>
          </a:prstGeom>
          <a:noFill/>
        </p:spPr>
        <p:txBody>
          <a:bodyPr wrap="square" lIns="27432" tIns="18288" rIns="27432" bIns="18288" anchor="t">
            <a:spAutoFit/>
          </a:bodyPr>
          <a:lstStyle/>
          <a:p>
            <a:pPr algn="l">
              <a:spcAft>
                <a:spcPts val="500"/>
              </a:spcAft>
            </a:pPr>
            <a:r>
              <a:rPr sz="1600" b="1">
                <a:solidFill>
                  <a:srgbClr val="28302A"/>
                </a:solidFill>
                <a:latin typeface="Times New Roman" panose="02020603050405020304" charset="0"/>
                <a:cs typeface="Times New Roman" panose="02020603050405020304" charset="0"/>
              </a:rPr>
              <a:t>I. Joshitha  (2520040062)
M. Surarichita Laxmi  (2520040101)</a:t>
            </a:r>
            <a:endParaRPr sz="1600" b="1">
              <a:solidFill>
                <a:srgbClr val="28302A"/>
              </a:solidFill>
              <a:latin typeface="Times New Roman" panose="02020603050405020304" charset="0"/>
              <a:cs typeface="Times New Roman" panose="02020603050405020304" charset="0"/>
            </a:endParaRPr>
          </a:p>
        </p:txBody>
      </p:sp>
      <p:sp>
        <p:nvSpPr>
          <p:cNvPr id="5" name="Text Box 4"/>
          <p:cNvSpPr txBox="1"/>
          <p:nvPr/>
        </p:nvSpPr>
        <p:spPr>
          <a:xfrm>
            <a:off x="3837623" y="6425248"/>
            <a:ext cx="5080000" cy="306705"/>
          </a:xfrm>
          <a:prstGeom prst="rect">
            <a:avLst/>
          </a:prstGeom>
        </p:spPr>
        <p:txBody>
          <a:bodyPr>
            <a:spAutoFit/>
          </a:bodyPr>
          <a:p>
            <a:r>
              <a:rPr sz="1400">
                <a:solidFill>
                  <a:schemeClr val="bg1">
                    <a:lumMod val="50000"/>
                  </a:schemeClr>
                </a:solidFill>
                <a:latin typeface="Times New Roman" panose="02020603050405020304" charset="0"/>
                <a:cs typeface="Times New Roman" panose="02020603050405020304" charset="0"/>
              </a:rPr>
              <a:t>SMART WATER MONITORING • DATA ANALYTICS</a:t>
            </a:r>
            <a:endParaRPr sz="1400">
              <a:solidFill>
                <a:schemeClr val="bg1">
                  <a:lumMod val="50000"/>
                </a:schemeClr>
              </a:solidFill>
              <a:latin typeface="Times New Roman" panose="02020603050405020304" charset="0"/>
              <a:cs typeface="Times New Roman" panose="0202060305040502030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9F6"/>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276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38912"/>
            <a:ext cx="10881360" cy="497205"/>
          </a:xfrm>
          <a:prstGeom prst="rect">
            <a:avLst/>
          </a:prstGeom>
          <a:noFill/>
        </p:spPr>
        <p:txBody>
          <a:bodyPr wrap="square" lIns="27432" tIns="18288" rIns="27432" bIns="18288" anchor="t">
            <a:spAutoFit/>
          </a:bodyPr>
          <a:lstStyle/>
          <a:p>
            <a:pPr algn="l">
              <a:spcAft>
                <a:spcPts val="500"/>
              </a:spcAft>
            </a:pPr>
            <a:r>
              <a:rPr sz="3000" b="1">
                <a:solidFill>
                  <a:srgbClr val="27633D"/>
                </a:solidFill>
                <a:latin typeface="Times New Roman" panose="02020603050405020304" charset="0"/>
                <a:cs typeface="Times New Roman" panose="02020603050405020304" charset="0"/>
              </a:rPr>
              <a:t>Abstract</a:t>
            </a:r>
            <a:endParaRPr sz="3000" b="1">
              <a:solidFill>
                <a:srgbClr val="27633D"/>
              </a:solidFill>
              <a:latin typeface="Times New Roman" panose="02020603050405020304" charset="0"/>
              <a:cs typeface="Times New Roman" panose="02020603050405020304" charset="0"/>
            </a:endParaRPr>
          </a:p>
        </p:txBody>
      </p:sp>
      <p:sp>
        <p:nvSpPr>
          <p:cNvPr id="4" name="TextBox 3"/>
          <p:cNvSpPr txBox="1"/>
          <p:nvPr/>
        </p:nvSpPr>
        <p:spPr>
          <a:xfrm>
            <a:off x="9326880" y="6473952"/>
            <a:ext cx="2240280" cy="182880"/>
          </a:xfrm>
          <a:prstGeom prst="rect">
            <a:avLst/>
          </a:prstGeom>
          <a:noFill/>
        </p:spPr>
        <p:txBody>
          <a:bodyPr wrap="square" lIns="27432" tIns="18288" rIns="27432" bIns="18288" anchor="t">
            <a:spAutoFit/>
          </a:bodyPr>
          <a:lstStyle/>
          <a:p>
            <a:pPr algn="r">
              <a:spcAft>
                <a:spcPts val="500"/>
              </a:spcAft>
            </a:pPr>
            <a:r>
              <a:rPr sz="900" b="1">
                <a:solidFill>
                  <a:srgbClr val="646E67"/>
                </a:solidFill>
                <a:latin typeface="Aptos"/>
              </a:rPr>
              <a:t>HYDROPULSE  •  02</a:t>
            </a:r>
            <a:endParaRPr sz="900" b="1">
              <a:solidFill>
                <a:srgbClr val="646E67"/>
              </a:solidFill>
              <a:latin typeface="Aptos"/>
            </a:endParaRPr>
          </a:p>
        </p:txBody>
      </p:sp>
      <p:sp>
        <p:nvSpPr>
          <p:cNvPr id="6" name="TextBox 5"/>
          <p:cNvSpPr txBox="1"/>
          <p:nvPr/>
        </p:nvSpPr>
        <p:spPr>
          <a:xfrm>
            <a:off x="914400" y="1515745"/>
            <a:ext cx="10130155" cy="3217545"/>
          </a:xfrm>
          <a:prstGeom prst="rect">
            <a:avLst/>
          </a:prstGeom>
          <a:noFill/>
        </p:spPr>
        <p:txBody>
          <a:bodyPr wrap="square" lIns="73152" rIns="45720">
            <a:spAutoFit/>
          </a:bodyPr>
          <a:lstStyle/>
          <a:p>
            <a:pPr>
              <a:spcAft>
                <a:spcPts val="1700"/>
              </a:spcAft>
              <a:defRPr sz="2100">
                <a:solidFill>
                  <a:srgbClr val="28302A"/>
                </a:solidFill>
                <a:latin typeface="Aptos"/>
              </a:defRPr>
            </a:pPr>
            <a:r>
              <a:rPr lang="en-US" altLang="en-US">
                <a:latin typeface="Times New Roman" panose="02020603050405020304" charset="0"/>
                <a:cs typeface="Times New Roman" panose="02020603050405020304" charset="0"/>
              </a:rPr>
              <a:t>HydroPulse is a web-based application designed to monitor and manage water resources efficiently. It displays important parameters such as water level, flow rate, temperature, and water quality through an interactive dashboard. The system helps users understand water conditions easily and supports better water management.</a:t>
            </a:r>
            <a:endParaRPr lang="en-US" altLang="en-US">
              <a:latin typeface="Times New Roman" panose="02020603050405020304" charset="0"/>
              <a:cs typeface="Times New Roman" panose="02020603050405020304" charset="0"/>
            </a:endParaRPr>
          </a:p>
          <a:p>
            <a:pPr>
              <a:spcAft>
                <a:spcPts val="1700"/>
              </a:spcAft>
              <a:defRPr sz="2100">
                <a:solidFill>
                  <a:srgbClr val="28302A"/>
                </a:solidFill>
                <a:latin typeface="Aptos"/>
              </a:defRPr>
            </a:pPr>
            <a:r>
              <a:rPr lang="en-US" altLang="en-US">
                <a:latin typeface="Times New Roman" panose="02020603050405020304" charset="0"/>
                <a:cs typeface="Times New Roman" panose="02020603050405020304" charset="0"/>
              </a:rPr>
              <a:t>The application includes graphical analytics, automatic alerts, usage records, and maintenance tracking to improve monitoring and identify potential issues. Developed using React.js and Node.js, HydroPulse currently uses simulated sensor data to demonstrate its functionality. In the future, it can be enhanced by integrating physical sensors and a database for real-time monitoring and long-term data storage.</a:t>
            </a:r>
            <a:endParaRPr lang="en-US" altLang="en-US">
              <a:latin typeface="Times New Roman" panose="02020603050405020304" charset="0"/>
              <a:cs typeface="Times New Roman" panose="02020603050405020304" charset="0"/>
            </a:endParaRPr>
          </a:p>
        </p:txBody>
      </p:sp>
      <p:sp>
        <p:nvSpPr>
          <p:cNvPr id="7" name="TextBox 6"/>
          <p:cNvSpPr txBox="1"/>
          <p:nvPr/>
        </p:nvSpPr>
        <p:spPr>
          <a:xfrm>
            <a:off x="914400" y="5806440"/>
            <a:ext cx="9875520" cy="281305"/>
          </a:xfrm>
          <a:prstGeom prst="rect">
            <a:avLst/>
          </a:prstGeom>
          <a:noFill/>
        </p:spPr>
        <p:txBody>
          <a:bodyPr wrap="square" lIns="27432" tIns="18288" rIns="27432" bIns="18288" anchor="t">
            <a:spAutoFit/>
          </a:bodyPr>
          <a:lstStyle/>
          <a:p>
            <a:pPr algn="l">
              <a:spcAft>
                <a:spcPts val="500"/>
              </a:spcAft>
            </a:pPr>
            <a:r>
              <a:rPr sz="1600" b="1">
                <a:solidFill>
                  <a:srgbClr val="27633D"/>
                </a:solidFill>
                <a:latin typeface="Times New Roman" panose="02020603050405020304" charset="0"/>
                <a:cs typeface="Times New Roman" panose="02020603050405020304" charset="0"/>
              </a:rPr>
              <a:t>Goal: </a:t>
            </a:r>
            <a:r>
              <a:rPr lang="en-US" altLang="en-US" sz="1600" b="1">
                <a:solidFill>
                  <a:srgbClr val="27633D"/>
                </a:solidFill>
                <a:latin typeface="Times New Roman" panose="02020603050405020304" charset="0"/>
                <a:cs typeface="Times New Roman" panose="02020603050405020304" charset="0"/>
              </a:rPr>
              <a:t> Simplify water monitoring and improve data visibility.</a:t>
            </a:r>
            <a:endParaRPr lang="en-US" altLang="en-US" sz="1600" b="1">
              <a:solidFill>
                <a:srgbClr val="27633D"/>
              </a:solidFill>
              <a:latin typeface="Times New Roman" panose="02020603050405020304" charset="0"/>
              <a:cs typeface="Times New Roman" panose="0202060305040502030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9F6"/>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276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38912"/>
            <a:ext cx="10881360" cy="497205"/>
          </a:xfrm>
          <a:prstGeom prst="rect">
            <a:avLst/>
          </a:prstGeom>
          <a:noFill/>
        </p:spPr>
        <p:txBody>
          <a:bodyPr wrap="square" lIns="27432" tIns="18288" rIns="27432" bIns="18288" anchor="t">
            <a:spAutoFit/>
          </a:bodyPr>
          <a:lstStyle/>
          <a:p>
            <a:pPr algn="l">
              <a:spcAft>
                <a:spcPts val="500"/>
              </a:spcAft>
            </a:pPr>
            <a:r>
              <a:rPr sz="3000" b="1">
                <a:solidFill>
                  <a:srgbClr val="27633D"/>
                </a:solidFill>
                <a:latin typeface="Times New Roman" panose="02020603050405020304" charset="0"/>
                <a:cs typeface="Times New Roman" panose="02020603050405020304" charset="0"/>
              </a:rPr>
              <a:t>Technologies Used</a:t>
            </a:r>
            <a:endParaRPr sz="3000" b="1">
              <a:solidFill>
                <a:srgbClr val="27633D"/>
              </a:solidFill>
              <a:latin typeface="Times New Roman" panose="02020603050405020304" charset="0"/>
              <a:cs typeface="Times New Roman" panose="02020603050405020304" charset="0"/>
            </a:endParaRPr>
          </a:p>
        </p:txBody>
      </p:sp>
      <p:sp>
        <p:nvSpPr>
          <p:cNvPr id="4" name="TextBox 3"/>
          <p:cNvSpPr txBox="1"/>
          <p:nvPr/>
        </p:nvSpPr>
        <p:spPr>
          <a:xfrm>
            <a:off x="9326880" y="6473952"/>
            <a:ext cx="2240280" cy="182880"/>
          </a:xfrm>
          <a:prstGeom prst="rect">
            <a:avLst/>
          </a:prstGeom>
          <a:noFill/>
        </p:spPr>
        <p:txBody>
          <a:bodyPr wrap="square" lIns="27432" tIns="18288" rIns="27432" bIns="18288" anchor="t">
            <a:spAutoFit/>
          </a:bodyPr>
          <a:lstStyle/>
          <a:p>
            <a:pPr algn="r">
              <a:spcAft>
                <a:spcPts val="500"/>
              </a:spcAft>
            </a:pPr>
            <a:r>
              <a:rPr sz="900" b="1">
                <a:solidFill>
                  <a:srgbClr val="646E67"/>
                </a:solidFill>
                <a:latin typeface="Aptos"/>
              </a:rPr>
              <a:t>HYDROPULSE  •  03</a:t>
            </a:r>
            <a:endParaRPr sz="900" b="1">
              <a:solidFill>
                <a:srgbClr val="646E67"/>
              </a:solidFill>
              <a:latin typeface="Aptos"/>
            </a:endParaRPr>
          </a:p>
        </p:txBody>
      </p:sp>
      <p:sp>
        <p:nvSpPr>
          <p:cNvPr id="5" name="Rounded Rectangle 4"/>
          <p:cNvSpPr/>
          <p:nvPr/>
        </p:nvSpPr>
        <p:spPr>
          <a:xfrm>
            <a:off x="731520" y="1417320"/>
            <a:ext cx="3474720" cy="3246120"/>
          </a:xfrm>
          <a:prstGeom prst="roundRect">
            <a:avLst/>
          </a:prstGeom>
          <a:solidFill>
            <a:srgbClr val="FFFFFF"/>
          </a:solidFill>
          <a:ln w="15240">
            <a:solidFill>
              <a:srgbClr val="D0E7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2688" y="1600200"/>
            <a:ext cx="3072384" cy="296545"/>
          </a:xfrm>
          <a:prstGeom prst="rect">
            <a:avLst/>
          </a:prstGeom>
          <a:noFill/>
        </p:spPr>
        <p:txBody>
          <a:bodyPr wrap="square" lIns="27432" tIns="18288" rIns="27432" bIns="18288" anchor="t">
            <a:spAutoFit/>
          </a:bodyPr>
          <a:lstStyle/>
          <a:p>
            <a:pPr algn="l">
              <a:spcAft>
                <a:spcPts val="500"/>
              </a:spcAft>
            </a:pPr>
            <a:r>
              <a:rPr sz="1700" b="1">
                <a:solidFill>
                  <a:srgbClr val="27633D"/>
                </a:solidFill>
                <a:latin typeface="Times New Roman" panose="02020603050405020304" charset="0"/>
                <a:cs typeface="Times New Roman" panose="02020603050405020304" charset="0"/>
              </a:rPr>
              <a:t>FRONT-END</a:t>
            </a:r>
            <a:endParaRPr sz="1700" b="1">
              <a:solidFill>
                <a:srgbClr val="27633D"/>
              </a:solidFill>
              <a:latin typeface="Times New Roman" panose="02020603050405020304" charset="0"/>
              <a:cs typeface="Times New Roman" panose="02020603050405020304" charset="0"/>
            </a:endParaRPr>
          </a:p>
        </p:txBody>
      </p:sp>
      <p:sp>
        <p:nvSpPr>
          <p:cNvPr id="7" name="TextBox 6"/>
          <p:cNvSpPr txBox="1"/>
          <p:nvPr/>
        </p:nvSpPr>
        <p:spPr>
          <a:xfrm>
            <a:off x="932688" y="2075688"/>
            <a:ext cx="3072384" cy="1369060"/>
          </a:xfrm>
          <a:prstGeom prst="rect">
            <a:avLst/>
          </a:prstGeom>
          <a:noFill/>
        </p:spPr>
        <p:txBody>
          <a:bodyPr wrap="square" lIns="27432" tIns="18288" rIns="27432" bIns="18288" anchor="t">
            <a:spAutoFit/>
          </a:bodyPr>
          <a:lstStyle/>
          <a:p>
            <a:pPr algn="l">
              <a:spcAft>
                <a:spcPts val="500"/>
              </a:spcAft>
            </a:pPr>
            <a:r>
              <a:rPr lang="en-US" altLang="en-US" sz="1400" b="0">
                <a:solidFill>
                  <a:srgbClr val="28302A"/>
                </a:solidFill>
                <a:latin typeface="Times New Roman" panose="02020603050405020304" charset="0"/>
                <a:cs typeface="Times New Roman" panose="02020603050405020304" charset="0"/>
              </a:rPr>
              <a:t>HTML5</a:t>
            </a:r>
            <a:endParaRPr lang="en-US" altLang="en-US" sz="1400" b="0">
              <a:solidFill>
                <a:srgbClr val="28302A"/>
              </a:solidFill>
              <a:latin typeface="Times New Roman" panose="02020603050405020304" charset="0"/>
              <a:cs typeface="Times New Roman" panose="02020603050405020304" charset="0"/>
            </a:endParaRPr>
          </a:p>
          <a:p>
            <a:pPr algn="l">
              <a:spcAft>
                <a:spcPts val="500"/>
              </a:spcAft>
            </a:pPr>
            <a:r>
              <a:rPr lang="en-US" altLang="en-US" sz="1400" b="0">
                <a:solidFill>
                  <a:srgbClr val="28302A"/>
                </a:solidFill>
                <a:latin typeface="Times New Roman" panose="02020603050405020304" charset="0"/>
                <a:cs typeface="Times New Roman" panose="02020603050405020304" charset="0"/>
              </a:rPr>
              <a:t>CSS3 / Tailwind CSS</a:t>
            </a:r>
            <a:endParaRPr lang="en-US" altLang="en-US" sz="1400" b="0">
              <a:solidFill>
                <a:srgbClr val="28302A"/>
              </a:solidFill>
              <a:latin typeface="Times New Roman" panose="02020603050405020304" charset="0"/>
              <a:cs typeface="Times New Roman" panose="02020603050405020304" charset="0"/>
            </a:endParaRPr>
          </a:p>
          <a:p>
            <a:pPr algn="l">
              <a:spcAft>
                <a:spcPts val="500"/>
              </a:spcAft>
            </a:pPr>
            <a:r>
              <a:rPr lang="en-US" altLang="en-US" sz="1400" b="0">
                <a:solidFill>
                  <a:srgbClr val="28302A"/>
                </a:solidFill>
                <a:latin typeface="Times New Roman" panose="02020603050405020304" charset="0"/>
                <a:cs typeface="Times New Roman" panose="02020603050405020304" charset="0"/>
              </a:rPr>
              <a:t>JavaScript / TypeScript</a:t>
            </a:r>
            <a:endParaRPr lang="en-US" altLang="en-US" sz="1400" b="0">
              <a:solidFill>
                <a:srgbClr val="28302A"/>
              </a:solidFill>
              <a:latin typeface="Times New Roman" panose="02020603050405020304" charset="0"/>
              <a:cs typeface="Times New Roman" panose="02020603050405020304" charset="0"/>
            </a:endParaRPr>
          </a:p>
          <a:p>
            <a:pPr algn="l">
              <a:spcAft>
                <a:spcPts val="500"/>
              </a:spcAft>
            </a:pPr>
            <a:r>
              <a:rPr lang="en-US" altLang="en-US" sz="1400" b="0">
                <a:solidFill>
                  <a:srgbClr val="28302A"/>
                </a:solidFill>
                <a:latin typeface="Times New Roman" panose="02020603050405020304" charset="0"/>
                <a:cs typeface="Times New Roman" panose="02020603050405020304" charset="0"/>
              </a:rPr>
              <a:t>React.js</a:t>
            </a:r>
            <a:endParaRPr lang="en-US" altLang="en-US" sz="1400" b="0">
              <a:solidFill>
                <a:srgbClr val="28302A"/>
              </a:solidFill>
              <a:latin typeface="Times New Roman" panose="02020603050405020304" charset="0"/>
              <a:cs typeface="Times New Roman" panose="02020603050405020304" charset="0"/>
            </a:endParaRPr>
          </a:p>
          <a:p>
            <a:pPr algn="l">
              <a:spcAft>
                <a:spcPts val="500"/>
              </a:spcAft>
            </a:pPr>
            <a:r>
              <a:rPr lang="en-US" altLang="en-US" sz="1400" b="0">
                <a:solidFill>
                  <a:srgbClr val="28302A"/>
                </a:solidFill>
                <a:latin typeface="Times New Roman" panose="02020603050405020304" charset="0"/>
                <a:cs typeface="Times New Roman" panose="02020603050405020304" charset="0"/>
              </a:rPr>
              <a:t>Chart.js</a:t>
            </a:r>
            <a:endParaRPr lang="en-US" altLang="en-US" sz="1400" b="0">
              <a:solidFill>
                <a:srgbClr val="28302A"/>
              </a:solidFill>
              <a:latin typeface="Times New Roman" panose="02020603050405020304" charset="0"/>
              <a:cs typeface="Times New Roman" panose="02020603050405020304" charset="0"/>
            </a:endParaRPr>
          </a:p>
        </p:txBody>
      </p:sp>
      <p:sp>
        <p:nvSpPr>
          <p:cNvPr id="8" name="Rounded Rectangle 7"/>
          <p:cNvSpPr/>
          <p:nvPr/>
        </p:nvSpPr>
        <p:spPr>
          <a:xfrm>
            <a:off x="4370832" y="1417320"/>
            <a:ext cx="3474720" cy="3246120"/>
          </a:xfrm>
          <a:prstGeom prst="roundRect">
            <a:avLst/>
          </a:prstGeom>
          <a:solidFill>
            <a:srgbClr val="FFFFFF"/>
          </a:solidFill>
          <a:ln w="15240">
            <a:solidFill>
              <a:srgbClr val="D0E7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0" y="1600200"/>
            <a:ext cx="3072384" cy="296545"/>
          </a:xfrm>
          <a:prstGeom prst="rect">
            <a:avLst/>
          </a:prstGeom>
          <a:noFill/>
        </p:spPr>
        <p:txBody>
          <a:bodyPr wrap="square" lIns="27432" tIns="18288" rIns="27432" bIns="18288" anchor="t">
            <a:spAutoFit/>
          </a:bodyPr>
          <a:lstStyle/>
          <a:p>
            <a:pPr algn="l">
              <a:spcAft>
                <a:spcPts val="500"/>
              </a:spcAft>
            </a:pPr>
            <a:r>
              <a:rPr sz="1700" b="1">
                <a:solidFill>
                  <a:srgbClr val="27633D"/>
                </a:solidFill>
                <a:latin typeface="Times New Roman" panose="02020603050405020304" charset="0"/>
                <a:cs typeface="Times New Roman" panose="02020603050405020304" charset="0"/>
              </a:rPr>
              <a:t>BACK</a:t>
            </a:r>
            <a:r>
              <a:rPr sz="1700" b="1">
                <a:solidFill>
                  <a:srgbClr val="27633D"/>
                </a:solidFill>
                <a:latin typeface="Times New Roman" panose="02020603050405020304" charset="0"/>
                <a:cs typeface="Times New Roman" panose="02020603050405020304" charset="0"/>
              </a:rPr>
              <a:t>-END / MIDDLEWARE</a:t>
            </a:r>
            <a:endParaRPr sz="1700" b="1">
              <a:solidFill>
                <a:srgbClr val="27633D"/>
              </a:solidFill>
              <a:latin typeface="Times New Roman" panose="02020603050405020304" charset="0"/>
              <a:cs typeface="Times New Roman" panose="02020603050405020304" charset="0"/>
            </a:endParaRPr>
          </a:p>
        </p:txBody>
      </p:sp>
      <p:sp>
        <p:nvSpPr>
          <p:cNvPr id="10" name="TextBox 9"/>
          <p:cNvSpPr txBox="1"/>
          <p:nvPr/>
        </p:nvSpPr>
        <p:spPr>
          <a:xfrm>
            <a:off x="4572000" y="2075688"/>
            <a:ext cx="3072384" cy="681355"/>
          </a:xfrm>
          <a:prstGeom prst="rect">
            <a:avLst/>
          </a:prstGeom>
          <a:noFill/>
        </p:spPr>
        <p:txBody>
          <a:bodyPr wrap="square" lIns="27432" tIns="18288" rIns="27432" bIns="18288" anchor="t">
            <a:spAutoFit/>
          </a:bodyPr>
          <a:lstStyle/>
          <a:p>
            <a:pPr algn="l">
              <a:spcAft>
                <a:spcPts val="500"/>
              </a:spcAft>
            </a:pPr>
            <a:r>
              <a:rPr sz="1400" b="0">
                <a:solidFill>
                  <a:srgbClr val="28302A"/>
                </a:solidFill>
                <a:latin typeface="Times New Roman" panose="02020603050405020304" charset="0"/>
                <a:cs typeface="Times New Roman" panose="02020603050405020304" charset="0"/>
              </a:rPr>
              <a:t>Node.js
Express.js
REST API</a:t>
            </a:r>
            <a:endParaRPr sz="1400" b="0">
              <a:solidFill>
                <a:srgbClr val="28302A"/>
              </a:solidFill>
              <a:latin typeface="Times New Roman" panose="02020603050405020304" charset="0"/>
              <a:cs typeface="Times New Roman" panose="02020603050405020304" charset="0"/>
            </a:endParaRPr>
          </a:p>
        </p:txBody>
      </p:sp>
      <p:sp>
        <p:nvSpPr>
          <p:cNvPr id="11" name="Rounded Rectangle 10"/>
          <p:cNvSpPr/>
          <p:nvPr/>
        </p:nvSpPr>
        <p:spPr>
          <a:xfrm>
            <a:off x="8010144" y="1417320"/>
            <a:ext cx="3474720" cy="3246120"/>
          </a:xfrm>
          <a:prstGeom prst="roundRect">
            <a:avLst/>
          </a:prstGeom>
          <a:solidFill>
            <a:srgbClr val="FFFFFF"/>
          </a:solidFill>
          <a:ln w="15240">
            <a:solidFill>
              <a:srgbClr val="D0E7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11312" y="1600200"/>
            <a:ext cx="3072384" cy="296545"/>
          </a:xfrm>
          <a:prstGeom prst="rect">
            <a:avLst/>
          </a:prstGeom>
          <a:noFill/>
        </p:spPr>
        <p:txBody>
          <a:bodyPr wrap="square" lIns="27432" tIns="18288" rIns="27432" bIns="18288" anchor="t">
            <a:spAutoFit/>
          </a:bodyPr>
          <a:lstStyle/>
          <a:p>
            <a:pPr algn="l">
              <a:spcAft>
                <a:spcPts val="500"/>
              </a:spcAft>
            </a:pPr>
            <a:r>
              <a:rPr sz="1700" b="1">
                <a:solidFill>
                  <a:srgbClr val="27633D"/>
                </a:solidFill>
                <a:latin typeface="Times New Roman" panose="02020603050405020304" charset="0"/>
                <a:cs typeface="Times New Roman" panose="02020603050405020304" charset="0"/>
              </a:rPr>
              <a:t>DATABASE</a:t>
            </a:r>
            <a:endParaRPr sz="1700" b="1">
              <a:solidFill>
                <a:srgbClr val="27633D"/>
              </a:solidFill>
              <a:latin typeface="Times New Roman" panose="02020603050405020304" charset="0"/>
              <a:cs typeface="Times New Roman" panose="02020603050405020304" charset="0"/>
            </a:endParaRPr>
          </a:p>
        </p:txBody>
      </p:sp>
      <p:sp>
        <p:nvSpPr>
          <p:cNvPr id="13" name="TextBox 12"/>
          <p:cNvSpPr txBox="1"/>
          <p:nvPr/>
        </p:nvSpPr>
        <p:spPr>
          <a:xfrm>
            <a:off x="8211312" y="2075688"/>
            <a:ext cx="3072384" cy="466090"/>
          </a:xfrm>
          <a:prstGeom prst="rect">
            <a:avLst/>
          </a:prstGeom>
          <a:noFill/>
        </p:spPr>
        <p:txBody>
          <a:bodyPr wrap="square" lIns="27432" tIns="18288" rIns="27432" bIns="18288" anchor="t">
            <a:spAutoFit/>
          </a:bodyPr>
          <a:lstStyle/>
          <a:p>
            <a:pPr algn="l">
              <a:spcAft>
                <a:spcPts val="500"/>
              </a:spcAft>
            </a:pPr>
            <a:r>
              <a:rPr sz="1400" b="0">
                <a:solidFill>
                  <a:srgbClr val="28302A"/>
                </a:solidFill>
                <a:latin typeface="Times New Roman" panose="02020603050405020304" charset="0"/>
                <a:cs typeface="Times New Roman" panose="02020603050405020304" charset="0"/>
              </a:rPr>
              <a:t>MongoDB or MySQL
Stores readings and history</a:t>
            </a:r>
            <a:endParaRPr sz="1400" b="0">
              <a:solidFill>
                <a:srgbClr val="28302A"/>
              </a:solidFill>
              <a:latin typeface="Times New Roman" panose="02020603050405020304" charset="0"/>
              <a:cs typeface="Times New Roman" panose="0202060305040502030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9F6"/>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276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38912"/>
            <a:ext cx="10881360" cy="497205"/>
          </a:xfrm>
          <a:prstGeom prst="rect">
            <a:avLst/>
          </a:prstGeom>
          <a:noFill/>
        </p:spPr>
        <p:txBody>
          <a:bodyPr wrap="square" lIns="27432" tIns="18288" rIns="27432" bIns="18288" anchor="t">
            <a:spAutoFit/>
          </a:bodyPr>
          <a:lstStyle/>
          <a:p>
            <a:pPr algn="l">
              <a:spcAft>
                <a:spcPts val="500"/>
              </a:spcAft>
            </a:pPr>
            <a:r>
              <a:rPr sz="3000" b="1">
                <a:solidFill>
                  <a:srgbClr val="27633D"/>
                </a:solidFill>
                <a:latin typeface="Times New Roman" panose="02020603050405020304" charset="0"/>
                <a:cs typeface="Times New Roman" panose="02020603050405020304" charset="0"/>
              </a:rPr>
              <a:t>Problem Description</a:t>
            </a:r>
            <a:endParaRPr sz="3000" b="1">
              <a:solidFill>
                <a:srgbClr val="27633D"/>
              </a:solidFill>
              <a:latin typeface="Times New Roman" panose="02020603050405020304" charset="0"/>
              <a:cs typeface="Times New Roman" panose="02020603050405020304" charset="0"/>
            </a:endParaRPr>
          </a:p>
        </p:txBody>
      </p:sp>
      <p:sp>
        <p:nvSpPr>
          <p:cNvPr id="4" name="TextBox 3"/>
          <p:cNvSpPr txBox="1"/>
          <p:nvPr/>
        </p:nvSpPr>
        <p:spPr>
          <a:xfrm>
            <a:off x="9326880" y="6473952"/>
            <a:ext cx="2240280" cy="182880"/>
          </a:xfrm>
          <a:prstGeom prst="rect">
            <a:avLst/>
          </a:prstGeom>
          <a:noFill/>
        </p:spPr>
        <p:txBody>
          <a:bodyPr wrap="square" lIns="27432" tIns="18288" rIns="27432" bIns="18288" anchor="t">
            <a:spAutoFit/>
          </a:bodyPr>
          <a:lstStyle/>
          <a:p>
            <a:pPr algn="r">
              <a:spcAft>
                <a:spcPts val="500"/>
              </a:spcAft>
            </a:pPr>
            <a:r>
              <a:rPr sz="900" b="1">
                <a:solidFill>
                  <a:srgbClr val="646E67"/>
                </a:solidFill>
                <a:latin typeface="Aptos"/>
              </a:rPr>
              <a:t>HYDROPULSE  •  04</a:t>
            </a:r>
            <a:endParaRPr sz="900" b="1">
              <a:solidFill>
                <a:srgbClr val="646E67"/>
              </a:solidFill>
              <a:latin typeface="Aptos"/>
            </a:endParaRPr>
          </a:p>
        </p:txBody>
      </p:sp>
      <p:sp>
        <p:nvSpPr>
          <p:cNvPr id="5" name="TextBox 4"/>
          <p:cNvSpPr txBox="1"/>
          <p:nvPr/>
        </p:nvSpPr>
        <p:spPr>
          <a:xfrm>
            <a:off x="868680" y="1280160"/>
            <a:ext cx="10424160" cy="712470"/>
          </a:xfrm>
          <a:prstGeom prst="rect">
            <a:avLst/>
          </a:prstGeom>
          <a:noFill/>
        </p:spPr>
        <p:txBody>
          <a:bodyPr wrap="square" lIns="27432" tIns="18288" rIns="27432" bIns="18288" anchor="t">
            <a:spAutoFit/>
          </a:bodyPr>
          <a:lstStyle/>
          <a:p>
            <a:pPr algn="l">
              <a:spcAft>
                <a:spcPts val="500"/>
              </a:spcAft>
            </a:pPr>
            <a:r>
              <a:rPr lang="en-US" altLang="en-US" sz="2200" b="1">
                <a:solidFill>
                  <a:srgbClr val="28302A"/>
                </a:solidFill>
                <a:latin typeface="Times New Roman" panose="02020603050405020304" charset="0"/>
                <a:cs typeface="Times New Roman" panose="02020603050405020304" charset="0"/>
              </a:rPr>
              <a:t>Manual water monitoring takes time and makes it difficult to track water levels, quality, flow, and usage.</a:t>
            </a:r>
            <a:endParaRPr lang="en-US" altLang="en-US" sz="2200" b="1">
              <a:solidFill>
                <a:srgbClr val="28302A"/>
              </a:solidFill>
              <a:latin typeface="Times New Roman" panose="02020603050405020304" charset="0"/>
              <a:cs typeface="Times New Roman" panose="02020603050405020304" charset="0"/>
            </a:endParaRPr>
          </a:p>
        </p:txBody>
      </p:sp>
      <p:sp>
        <p:nvSpPr>
          <p:cNvPr id="6" name="Rounded Rectangle 5"/>
          <p:cNvSpPr/>
          <p:nvPr/>
        </p:nvSpPr>
        <p:spPr>
          <a:xfrm>
            <a:off x="822960" y="2331720"/>
            <a:ext cx="3337560" cy="2011680"/>
          </a:xfrm>
          <a:prstGeom prst="roundRect">
            <a:avLst/>
          </a:prstGeom>
          <a:solidFill>
            <a:srgbClr val="FFFFFF"/>
          </a:solidFill>
          <a:ln w="15240">
            <a:solidFill>
              <a:srgbClr val="D0E7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24128" y="2514600"/>
            <a:ext cx="2935224" cy="296545"/>
          </a:xfrm>
          <a:prstGeom prst="rect">
            <a:avLst/>
          </a:prstGeom>
          <a:noFill/>
        </p:spPr>
        <p:txBody>
          <a:bodyPr wrap="square" lIns="27432" tIns="18288" rIns="27432" bIns="18288" anchor="t">
            <a:spAutoFit/>
          </a:bodyPr>
          <a:lstStyle/>
          <a:p>
            <a:pPr algn="l">
              <a:spcAft>
                <a:spcPts val="500"/>
              </a:spcAft>
            </a:pPr>
            <a:r>
              <a:rPr sz="1700" b="1">
                <a:solidFill>
                  <a:srgbClr val="27633D"/>
                </a:solidFill>
                <a:latin typeface="Times New Roman" panose="02020603050405020304" charset="0"/>
                <a:cs typeface="Times New Roman" panose="02020603050405020304" charset="0"/>
              </a:rPr>
              <a:t>Manual </a:t>
            </a:r>
            <a:r>
              <a:rPr lang="en-US" sz="1700" b="1">
                <a:solidFill>
                  <a:srgbClr val="27633D"/>
                </a:solidFill>
                <a:latin typeface="Times New Roman" panose="02020603050405020304" charset="0"/>
                <a:cs typeface="Times New Roman" panose="02020603050405020304" charset="0"/>
              </a:rPr>
              <a:t>Monitor</a:t>
            </a:r>
            <a:r>
              <a:rPr sz="1700" b="1">
                <a:solidFill>
                  <a:srgbClr val="27633D"/>
                </a:solidFill>
                <a:latin typeface="Times New Roman" panose="02020603050405020304" charset="0"/>
                <a:cs typeface="Times New Roman" panose="02020603050405020304" charset="0"/>
              </a:rPr>
              <a:t>ing</a:t>
            </a:r>
            <a:endParaRPr sz="1700" b="1">
              <a:solidFill>
                <a:srgbClr val="27633D"/>
              </a:solidFill>
              <a:latin typeface="Times New Roman" panose="02020603050405020304" charset="0"/>
              <a:cs typeface="Times New Roman" panose="02020603050405020304" charset="0"/>
            </a:endParaRPr>
          </a:p>
        </p:txBody>
      </p:sp>
      <p:sp>
        <p:nvSpPr>
          <p:cNvPr id="8" name="TextBox 7"/>
          <p:cNvSpPr txBox="1"/>
          <p:nvPr/>
        </p:nvSpPr>
        <p:spPr>
          <a:xfrm>
            <a:off x="1024128" y="2990087"/>
            <a:ext cx="2935224" cy="466090"/>
          </a:xfrm>
          <a:prstGeom prst="rect">
            <a:avLst/>
          </a:prstGeom>
          <a:noFill/>
        </p:spPr>
        <p:txBody>
          <a:bodyPr wrap="square" lIns="27432" tIns="18288" rIns="27432" bIns="18288" anchor="t">
            <a:spAutoFit/>
          </a:bodyPr>
          <a:lstStyle/>
          <a:p>
            <a:pPr algn="l">
              <a:spcAft>
                <a:spcPts val="500"/>
              </a:spcAft>
            </a:pPr>
            <a:r>
              <a:rPr lang="en-US" altLang="en-US" sz="1400" b="0">
                <a:solidFill>
                  <a:srgbClr val="28302A"/>
                </a:solidFill>
                <a:latin typeface="Times New Roman" panose="02020603050405020304" charset="0"/>
                <a:cs typeface="Times New Roman" panose="02020603050405020304" charset="0"/>
              </a:rPr>
              <a:t>Requires regular effort to check water levels and usage.</a:t>
            </a:r>
            <a:endParaRPr lang="en-US" altLang="en-US" sz="1400" b="0">
              <a:solidFill>
                <a:srgbClr val="28302A"/>
              </a:solidFill>
              <a:latin typeface="Times New Roman" panose="02020603050405020304" charset="0"/>
              <a:cs typeface="Times New Roman" panose="02020603050405020304" charset="0"/>
            </a:endParaRPr>
          </a:p>
        </p:txBody>
      </p:sp>
      <p:sp>
        <p:nvSpPr>
          <p:cNvPr id="9" name="Rounded Rectangle 8"/>
          <p:cNvSpPr/>
          <p:nvPr/>
        </p:nvSpPr>
        <p:spPr>
          <a:xfrm>
            <a:off x="4434840" y="2331720"/>
            <a:ext cx="3337560" cy="2011680"/>
          </a:xfrm>
          <a:prstGeom prst="roundRect">
            <a:avLst/>
          </a:prstGeom>
          <a:solidFill>
            <a:srgbClr val="FFFFFF"/>
          </a:solidFill>
          <a:ln w="15240">
            <a:solidFill>
              <a:srgbClr val="D0E7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36007" y="2514600"/>
            <a:ext cx="2935224" cy="296545"/>
          </a:xfrm>
          <a:prstGeom prst="rect">
            <a:avLst/>
          </a:prstGeom>
          <a:noFill/>
        </p:spPr>
        <p:txBody>
          <a:bodyPr wrap="square" lIns="27432" tIns="18288" rIns="27432" bIns="18288" anchor="t">
            <a:spAutoFit/>
          </a:bodyPr>
          <a:lstStyle/>
          <a:p>
            <a:pPr algn="l">
              <a:spcAft>
                <a:spcPts val="500"/>
              </a:spcAft>
            </a:pPr>
            <a:r>
              <a:rPr lang="en-US" altLang="en-US" sz="1700" b="1">
                <a:solidFill>
                  <a:srgbClr val="27633D"/>
                </a:solidFill>
                <a:latin typeface="Times New Roman" panose="02020603050405020304" charset="0"/>
                <a:cs typeface="Times New Roman" panose="02020603050405020304" charset="0"/>
              </a:rPr>
              <a:t>Usage Tracking</a:t>
            </a:r>
            <a:endParaRPr lang="en-US" altLang="en-US" sz="1700" b="1">
              <a:solidFill>
                <a:srgbClr val="27633D"/>
              </a:solidFill>
              <a:latin typeface="Times New Roman" panose="02020603050405020304" charset="0"/>
              <a:cs typeface="Times New Roman" panose="02020603050405020304" charset="0"/>
            </a:endParaRPr>
          </a:p>
        </p:txBody>
      </p:sp>
      <p:sp>
        <p:nvSpPr>
          <p:cNvPr id="11" name="TextBox 10"/>
          <p:cNvSpPr txBox="1"/>
          <p:nvPr/>
        </p:nvSpPr>
        <p:spPr>
          <a:xfrm>
            <a:off x="4636007" y="2990087"/>
            <a:ext cx="2935224" cy="466090"/>
          </a:xfrm>
          <a:prstGeom prst="rect">
            <a:avLst/>
          </a:prstGeom>
          <a:noFill/>
        </p:spPr>
        <p:txBody>
          <a:bodyPr wrap="square" lIns="27432" tIns="18288" rIns="27432" bIns="18288" anchor="t">
            <a:spAutoFit/>
          </a:bodyPr>
          <a:lstStyle/>
          <a:p>
            <a:pPr algn="l">
              <a:spcAft>
                <a:spcPts val="500"/>
              </a:spcAft>
            </a:pPr>
            <a:r>
              <a:rPr lang="en-US" altLang="en-US" sz="1400" b="0">
                <a:solidFill>
                  <a:srgbClr val="28302A"/>
                </a:solidFill>
                <a:latin typeface="Times New Roman" panose="02020603050405020304" charset="0"/>
                <a:cs typeface="Times New Roman" panose="02020603050405020304" charset="0"/>
              </a:rPr>
              <a:t>Maintaining and reviewing water consumption records can be challenging.</a:t>
            </a:r>
            <a:endParaRPr lang="en-US" altLang="en-US" sz="1400" b="0">
              <a:solidFill>
                <a:srgbClr val="28302A"/>
              </a:solidFill>
              <a:latin typeface="Times New Roman" panose="02020603050405020304" charset="0"/>
              <a:cs typeface="Times New Roman" panose="02020603050405020304" charset="0"/>
            </a:endParaRPr>
          </a:p>
        </p:txBody>
      </p:sp>
      <p:sp>
        <p:nvSpPr>
          <p:cNvPr id="12" name="Rounded Rectangle 11"/>
          <p:cNvSpPr/>
          <p:nvPr/>
        </p:nvSpPr>
        <p:spPr>
          <a:xfrm>
            <a:off x="8046720" y="2331720"/>
            <a:ext cx="3337560" cy="2011680"/>
          </a:xfrm>
          <a:prstGeom prst="roundRect">
            <a:avLst/>
          </a:prstGeom>
          <a:solidFill>
            <a:srgbClr val="FFFFFF"/>
          </a:solidFill>
          <a:ln w="15240">
            <a:solidFill>
              <a:srgbClr val="D0E7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47888" y="2514600"/>
            <a:ext cx="2935224" cy="296545"/>
          </a:xfrm>
          <a:prstGeom prst="rect">
            <a:avLst/>
          </a:prstGeom>
          <a:noFill/>
        </p:spPr>
        <p:txBody>
          <a:bodyPr wrap="square" lIns="27432" tIns="18288" rIns="27432" bIns="18288" anchor="t">
            <a:spAutoFit/>
          </a:bodyPr>
          <a:lstStyle/>
          <a:p>
            <a:pPr algn="l">
              <a:spcAft>
                <a:spcPts val="500"/>
              </a:spcAft>
            </a:pPr>
            <a:r>
              <a:rPr lang="en-US" altLang="en-US" sz="1700" b="1">
                <a:solidFill>
                  <a:srgbClr val="27633D"/>
                </a:solidFill>
                <a:latin typeface="Times New Roman" panose="02020603050405020304" charset="0"/>
                <a:cs typeface="Times New Roman" panose="02020603050405020304" charset="0"/>
              </a:rPr>
              <a:t>Delayed Alerts</a:t>
            </a:r>
            <a:endParaRPr lang="en-US" altLang="en-US" sz="1700" b="1">
              <a:solidFill>
                <a:srgbClr val="27633D"/>
              </a:solidFill>
              <a:latin typeface="Times New Roman" panose="02020603050405020304" charset="0"/>
              <a:cs typeface="Times New Roman" panose="02020603050405020304" charset="0"/>
            </a:endParaRPr>
          </a:p>
        </p:txBody>
      </p:sp>
      <p:sp>
        <p:nvSpPr>
          <p:cNvPr id="14" name="TextBox 13"/>
          <p:cNvSpPr txBox="1"/>
          <p:nvPr/>
        </p:nvSpPr>
        <p:spPr>
          <a:xfrm>
            <a:off x="8247888" y="2990087"/>
            <a:ext cx="2935224" cy="681355"/>
          </a:xfrm>
          <a:prstGeom prst="rect">
            <a:avLst/>
          </a:prstGeom>
          <a:noFill/>
        </p:spPr>
        <p:txBody>
          <a:bodyPr wrap="square" lIns="27432" tIns="18288" rIns="27432" bIns="18288" anchor="t">
            <a:spAutoFit/>
          </a:bodyPr>
          <a:lstStyle/>
          <a:p>
            <a:pPr algn="l">
              <a:spcAft>
                <a:spcPts val="500"/>
              </a:spcAft>
            </a:pPr>
            <a:r>
              <a:rPr lang="en-US" altLang="en-US" sz="1400" b="0">
                <a:solidFill>
                  <a:srgbClr val="28302A"/>
                </a:solidFill>
                <a:latin typeface="Times New Roman" panose="02020603050405020304" charset="0"/>
                <a:cs typeface="Times New Roman" panose="02020603050405020304" charset="0"/>
              </a:rPr>
              <a:t>Abnormal conditions may not be noticed promptly without a clear monitoring interface.</a:t>
            </a:r>
            <a:endParaRPr lang="en-US" altLang="en-US" sz="1400" b="0">
              <a:solidFill>
                <a:srgbClr val="28302A"/>
              </a:solidFill>
              <a:latin typeface="Times New Roman" panose="02020603050405020304" charset="0"/>
              <a:cs typeface="Times New Roman" panose="02020603050405020304" charset="0"/>
            </a:endParaRPr>
          </a:p>
        </p:txBody>
      </p:sp>
      <p:sp>
        <p:nvSpPr>
          <p:cNvPr id="15" name="TextBox 14"/>
          <p:cNvSpPr txBox="1"/>
          <p:nvPr/>
        </p:nvSpPr>
        <p:spPr>
          <a:xfrm>
            <a:off x="914400" y="5074920"/>
            <a:ext cx="10241280" cy="312420"/>
          </a:xfrm>
          <a:prstGeom prst="rect">
            <a:avLst/>
          </a:prstGeom>
          <a:noFill/>
        </p:spPr>
        <p:txBody>
          <a:bodyPr wrap="square" lIns="27432" tIns="18288" rIns="27432" bIns="18288" anchor="t">
            <a:spAutoFit/>
          </a:bodyPr>
          <a:lstStyle/>
          <a:p>
            <a:pPr algn="l">
              <a:spcAft>
                <a:spcPts val="500"/>
              </a:spcAft>
            </a:pPr>
            <a:r>
              <a:rPr b="1">
                <a:solidFill>
                  <a:srgbClr val="27633D"/>
                </a:solidFill>
                <a:latin typeface="Times New Roman" panose="02020603050405020304" charset="0"/>
                <a:cs typeface="Times New Roman" panose="02020603050405020304" charset="0"/>
              </a:rPr>
              <a:t>Solution: HydroPulse brings key readings together in one dashboard.</a:t>
            </a:r>
            <a:endParaRPr b="1">
              <a:solidFill>
                <a:srgbClr val="27633D"/>
              </a:solidFill>
              <a:latin typeface="Times New Roman" panose="02020603050405020304" charset="0"/>
              <a:cs typeface="Times New Roman" panose="0202060305040502030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9F6"/>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276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38912"/>
            <a:ext cx="10881360" cy="497205"/>
          </a:xfrm>
          <a:prstGeom prst="rect">
            <a:avLst/>
          </a:prstGeom>
          <a:noFill/>
        </p:spPr>
        <p:txBody>
          <a:bodyPr wrap="square" lIns="27432" tIns="18288" rIns="27432" bIns="18288" anchor="t">
            <a:spAutoFit/>
          </a:bodyPr>
          <a:lstStyle/>
          <a:p>
            <a:pPr algn="l">
              <a:spcAft>
                <a:spcPts val="500"/>
              </a:spcAft>
            </a:pPr>
            <a:r>
              <a:rPr sz="3000" b="1">
                <a:solidFill>
                  <a:srgbClr val="27633D"/>
                </a:solidFill>
                <a:latin typeface="Times New Roman" panose="02020603050405020304" charset="0"/>
                <a:cs typeface="Times New Roman" panose="02020603050405020304" charset="0"/>
              </a:rPr>
              <a:t>Architecture Diagram</a:t>
            </a:r>
            <a:endParaRPr sz="3000" b="1">
              <a:solidFill>
                <a:srgbClr val="27633D"/>
              </a:solidFill>
              <a:latin typeface="Times New Roman" panose="02020603050405020304" charset="0"/>
              <a:cs typeface="Times New Roman" panose="02020603050405020304" charset="0"/>
            </a:endParaRPr>
          </a:p>
        </p:txBody>
      </p:sp>
      <p:sp>
        <p:nvSpPr>
          <p:cNvPr id="4" name="TextBox 3"/>
          <p:cNvSpPr txBox="1"/>
          <p:nvPr/>
        </p:nvSpPr>
        <p:spPr>
          <a:xfrm>
            <a:off x="9326880" y="6473952"/>
            <a:ext cx="2240280" cy="182880"/>
          </a:xfrm>
          <a:prstGeom prst="rect">
            <a:avLst/>
          </a:prstGeom>
          <a:noFill/>
        </p:spPr>
        <p:txBody>
          <a:bodyPr wrap="square" lIns="27432" tIns="18288" rIns="27432" bIns="18288" anchor="t">
            <a:spAutoFit/>
          </a:bodyPr>
          <a:lstStyle/>
          <a:p>
            <a:pPr algn="r">
              <a:spcAft>
                <a:spcPts val="500"/>
              </a:spcAft>
            </a:pPr>
            <a:r>
              <a:rPr sz="900" b="1">
                <a:solidFill>
                  <a:srgbClr val="646E67"/>
                </a:solidFill>
                <a:latin typeface="Aptos"/>
              </a:rPr>
              <a:t>HYDROPULSE  •  05</a:t>
            </a:r>
            <a:endParaRPr sz="900" b="1">
              <a:solidFill>
                <a:srgbClr val="646E67"/>
              </a:solidFill>
              <a:latin typeface="Aptos"/>
            </a:endParaRPr>
          </a:p>
        </p:txBody>
      </p:sp>
      <p:sp>
        <p:nvSpPr>
          <p:cNvPr id="5" name="Rounded Rectangle 4"/>
          <p:cNvSpPr/>
          <p:nvPr/>
        </p:nvSpPr>
        <p:spPr>
          <a:xfrm>
            <a:off x="594360" y="1371600"/>
            <a:ext cx="2057400" cy="960120"/>
          </a:xfrm>
          <a:prstGeom prst="roundRect">
            <a:avLst/>
          </a:prstGeom>
          <a:solidFill>
            <a:srgbClr val="E5F1E4"/>
          </a:solidFill>
          <a:ln>
            <a:solidFill>
              <a:srgbClr val="D0E7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7512" y="1527048"/>
            <a:ext cx="1911095" cy="219710"/>
          </a:xfrm>
          <a:prstGeom prst="rect">
            <a:avLst/>
          </a:prstGeom>
          <a:noFill/>
        </p:spPr>
        <p:txBody>
          <a:bodyPr wrap="square" lIns="27432" tIns="18288" rIns="27432" bIns="18288" anchor="t">
            <a:spAutoFit/>
          </a:bodyPr>
          <a:lstStyle/>
          <a:p>
            <a:pPr algn="ctr">
              <a:spcAft>
                <a:spcPts val="500"/>
              </a:spcAft>
            </a:pPr>
            <a:r>
              <a:rPr lang="en-US" altLang="en-US" sz="1200" b="1">
                <a:solidFill>
                  <a:srgbClr val="27633D"/>
                </a:solidFill>
                <a:latin typeface="Times New Roman" panose="02020603050405020304" charset="0"/>
                <a:cs typeface="Times New Roman" panose="02020603050405020304" charset="0"/>
              </a:rPr>
              <a:t>Water Monitoring System.</a:t>
            </a:r>
            <a:endParaRPr lang="en-US" altLang="en-US" sz="1200" b="1">
              <a:solidFill>
                <a:srgbClr val="27633D"/>
              </a:solidFill>
              <a:latin typeface="Times New Roman" panose="02020603050405020304" charset="0"/>
              <a:cs typeface="Times New Roman" panose="02020603050405020304" charset="0"/>
            </a:endParaRPr>
          </a:p>
        </p:txBody>
      </p:sp>
      <p:sp>
        <p:nvSpPr>
          <p:cNvPr id="7" name="TextBox 6"/>
          <p:cNvSpPr txBox="1"/>
          <p:nvPr/>
        </p:nvSpPr>
        <p:spPr>
          <a:xfrm>
            <a:off x="667512" y="1865376"/>
            <a:ext cx="1911095" cy="219710"/>
          </a:xfrm>
          <a:prstGeom prst="rect">
            <a:avLst/>
          </a:prstGeom>
          <a:noFill/>
        </p:spPr>
        <p:txBody>
          <a:bodyPr wrap="square" lIns="27432" tIns="18288" rIns="27432" bIns="18288" anchor="t">
            <a:spAutoFit/>
          </a:bodyPr>
          <a:lstStyle/>
          <a:p>
            <a:pPr algn="ctr">
              <a:spcAft>
                <a:spcPts val="500"/>
              </a:spcAft>
            </a:pPr>
            <a:r>
              <a:rPr lang="en-US" altLang="en-US" sz="1200" b="0">
                <a:solidFill>
                  <a:srgbClr val="28302A"/>
                </a:solidFill>
                <a:latin typeface="Times New Roman" panose="02020603050405020304" charset="0"/>
                <a:cs typeface="Times New Roman" panose="02020603050405020304" charset="0"/>
              </a:rPr>
              <a:t>Water level • flow • usage</a:t>
            </a:r>
            <a:endParaRPr lang="en-US" altLang="en-US" sz="1200" b="0">
              <a:solidFill>
                <a:srgbClr val="28302A"/>
              </a:solidFill>
              <a:latin typeface="Times New Roman" panose="02020603050405020304" charset="0"/>
              <a:cs typeface="Times New Roman" panose="02020603050405020304" charset="0"/>
            </a:endParaRPr>
          </a:p>
        </p:txBody>
      </p:sp>
      <p:sp>
        <p:nvSpPr>
          <p:cNvPr id="8" name="Rounded Rectangle 7"/>
          <p:cNvSpPr/>
          <p:nvPr/>
        </p:nvSpPr>
        <p:spPr>
          <a:xfrm>
            <a:off x="2971800" y="1371600"/>
            <a:ext cx="2057400" cy="960120"/>
          </a:xfrm>
          <a:prstGeom prst="roundRect">
            <a:avLst/>
          </a:prstGeom>
          <a:solidFill>
            <a:srgbClr val="DDEBF7"/>
          </a:solidFill>
          <a:ln>
            <a:solidFill>
              <a:srgbClr val="D0E7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044952" y="1527048"/>
            <a:ext cx="1911095" cy="250825"/>
          </a:xfrm>
          <a:prstGeom prst="rect">
            <a:avLst/>
          </a:prstGeom>
          <a:noFill/>
        </p:spPr>
        <p:txBody>
          <a:bodyPr wrap="square" lIns="27432" tIns="18288" rIns="27432" bIns="18288" anchor="t">
            <a:spAutoFit/>
          </a:bodyPr>
          <a:lstStyle/>
          <a:p>
            <a:pPr algn="ctr">
              <a:spcAft>
                <a:spcPts val="500"/>
              </a:spcAft>
            </a:pPr>
            <a:r>
              <a:rPr sz="1400" b="1">
                <a:solidFill>
                  <a:srgbClr val="27633D"/>
                </a:solidFill>
                <a:latin typeface="Times New Roman" panose="02020603050405020304" charset="0"/>
                <a:cs typeface="Times New Roman" panose="02020603050405020304" charset="0"/>
              </a:rPr>
              <a:t>Sensors / Input</a:t>
            </a:r>
            <a:endParaRPr sz="1400" b="1">
              <a:solidFill>
                <a:srgbClr val="27633D"/>
              </a:solidFill>
              <a:latin typeface="Times New Roman" panose="02020603050405020304" charset="0"/>
              <a:cs typeface="Times New Roman" panose="02020603050405020304" charset="0"/>
            </a:endParaRPr>
          </a:p>
        </p:txBody>
      </p:sp>
      <p:sp>
        <p:nvSpPr>
          <p:cNvPr id="10" name="TextBox 9"/>
          <p:cNvSpPr txBox="1"/>
          <p:nvPr/>
        </p:nvSpPr>
        <p:spPr>
          <a:xfrm>
            <a:off x="3044952" y="1865376"/>
            <a:ext cx="1911095" cy="404495"/>
          </a:xfrm>
          <a:prstGeom prst="rect">
            <a:avLst/>
          </a:prstGeom>
          <a:noFill/>
        </p:spPr>
        <p:txBody>
          <a:bodyPr wrap="square" lIns="27432" tIns="18288" rIns="27432" bIns="18288" anchor="t">
            <a:spAutoFit/>
          </a:bodyPr>
          <a:lstStyle/>
          <a:p>
            <a:pPr algn="ctr">
              <a:spcAft>
                <a:spcPts val="500"/>
              </a:spcAft>
            </a:pPr>
            <a:r>
              <a:rPr lang="en-US" altLang="en-US" sz="1200" b="0">
                <a:solidFill>
                  <a:srgbClr val="28302A"/>
                </a:solidFill>
                <a:latin typeface="Times New Roman" panose="02020603050405020304" charset="0"/>
                <a:cs typeface="Times New Roman" panose="02020603050405020304" charset="0"/>
              </a:rPr>
              <a:t>Water level • flow rate • temperature</a:t>
            </a:r>
            <a:endParaRPr lang="en-US" altLang="en-US" sz="1200" b="0">
              <a:solidFill>
                <a:srgbClr val="28302A"/>
              </a:solidFill>
              <a:latin typeface="Times New Roman" panose="02020603050405020304" charset="0"/>
              <a:cs typeface="Times New Roman" panose="02020603050405020304" charset="0"/>
            </a:endParaRPr>
          </a:p>
        </p:txBody>
      </p:sp>
      <p:sp>
        <p:nvSpPr>
          <p:cNvPr id="11" name="Rounded Rectangle 10"/>
          <p:cNvSpPr/>
          <p:nvPr/>
        </p:nvSpPr>
        <p:spPr>
          <a:xfrm>
            <a:off x="5349240" y="1371600"/>
            <a:ext cx="2057400" cy="960120"/>
          </a:xfrm>
          <a:prstGeom prst="roundRect">
            <a:avLst/>
          </a:prstGeom>
          <a:solidFill>
            <a:srgbClr val="FFF2CC"/>
          </a:solidFill>
          <a:ln>
            <a:solidFill>
              <a:srgbClr val="D0E7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22392" y="1527048"/>
            <a:ext cx="1911095" cy="250825"/>
          </a:xfrm>
          <a:prstGeom prst="rect">
            <a:avLst/>
          </a:prstGeom>
          <a:noFill/>
        </p:spPr>
        <p:txBody>
          <a:bodyPr wrap="square" lIns="27432" tIns="18288" rIns="27432" bIns="18288" anchor="t">
            <a:spAutoFit/>
          </a:bodyPr>
          <a:lstStyle/>
          <a:p>
            <a:pPr algn="ctr">
              <a:spcAft>
                <a:spcPts val="500"/>
              </a:spcAft>
            </a:pPr>
            <a:r>
              <a:rPr sz="1400" b="1">
                <a:solidFill>
                  <a:srgbClr val="27633D"/>
                </a:solidFill>
                <a:latin typeface="Times New Roman" panose="02020603050405020304" charset="0"/>
                <a:cs typeface="Times New Roman" panose="02020603050405020304" charset="0"/>
              </a:rPr>
              <a:t>Back-end / API</a:t>
            </a:r>
            <a:endParaRPr sz="1400" b="1">
              <a:solidFill>
                <a:srgbClr val="27633D"/>
              </a:solidFill>
              <a:latin typeface="Times New Roman" panose="02020603050405020304" charset="0"/>
              <a:cs typeface="Times New Roman" panose="02020603050405020304" charset="0"/>
            </a:endParaRPr>
          </a:p>
        </p:txBody>
      </p:sp>
      <p:sp>
        <p:nvSpPr>
          <p:cNvPr id="13" name="TextBox 12"/>
          <p:cNvSpPr txBox="1"/>
          <p:nvPr/>
        </p:nvSpPr>
        <p:spPr>
          <a:xfrm>
            <a:off x="5422392" y="1865376"/>
            <a:ext cx="1911095" cy="219710"/>
          </a:xfrm>
          <a:prstGeom prst="rect">
            <a:avLst/>
          </a:prstGeom>
          <a:noFill/>
        </p:spPr>
        <p:txBody>
          <a:bodyPr wrap="square" lIns="27432" tIns="18288" rIns="27432" bIns="18288" anchor="t">
            <a:spAutoFit/>
          </a:bodyPr>
          <a:lstStyle/>
          <a:p>
            <a:pPr algn="ctr">
              <a:spcAft>
                <a:spcPts val="500"/>
              </a:spcAft>
            </a:pPr>
            <a:r>
              <a:rPr sz="1200" b="0">
                <a:solidFill>
                  <a:srgbClr val="28302A"/>
                </a:solidFill>
                <a:latin typeface="Times New Roman" panose="02020603050405020304" charset="0"/>
                <a:cs typeface="Times New Roman" panose="02020603050405020304" charset="0"/>
              </a:rPr>
              <a:t>Process readings</a:t>
            </a:r>
            <a:endParaRPr sz="1200" b="0">
              <a:solidFill>
                <a:srgbClr val="28302A"/>
              </a:solidFill>
              <a:latin typeface="Times New Roman" panose="02020603050405020304" charset="0"/>
              <a:cs typeface="Times New Roman" panose="02020603050405020304" charset="0"/>
            </a:endParaRPr>
          </a:p>
        </p:txBody>
      </p:sp>
      <p:sp>
        <p:nvSpPr>
          <p:cNvPr id="14" name="Rounded Rectangle 13"/>
          <p:cNvSpPr/>
          <p:nvPr/>
        </p:nvSpPr>
        <p:spPr>
          <a:xfrm>
            <a:off x="7726679" y="1371600"/>
            <a:ext cx="1645920" cy="960120"/>
          </a:xfrm>
          <a:prstGeom prst="roundRect">
            <a:avLst/>
          </a:prstGeom>
          <a:solidFill>
            <a:srgbClr val="E4DFEC"/>
          </a:solidFill>
          <a:ln>
            <a:solidFill>
              <a:srgbClr val="D0E7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99831" y="1527048"/>
            <a:ext cx="1499616" cy="250825"/>
          </a:xfrm>
          <a:prstGeom prst="rect">
            <a:avLst/>
          </a:prstGeom>
          <a:noFill/>
        </p:spPr>
        <p:txBody>
          <a:bodyPr wrap="square" lIns="27432" tIns="18288" rIns="27432" bIns="18288" anchor="t">
            <a:spAutoFit/>
          </a:bodyPr>
          <a:lstStyle/>
          <a:p>
            <a:pPr algn="ctr">
              <a:spcAft>
                <a:spcPts val="500"/>
              </a:spcAft>
            </a:pPr>
            <a:r>
              <a:rPr sz="1400" b="1">
                <a:solidFill>
                  <a:srgbClr val="27633D"/>
                </a:solidFill>
                <a:latin typeface="Times New Roman" panose="02020603050405020304" charset="0"/>
                <a:cs typeface="Times New Roman" panose="02020603050405020304" charset="0"/>
              </a:rPr>
              <a:t>Database</a:t>
            </a:r>
            <a:endParaRPr sz="1400" b="1">
              <a:solidFill>
                <a:srgbClr val="27633D"/>
              </a:solidFill>
              <a:latin typeface="Times New Roman" panose="02020603050405020304" charset="0"/>
              <a:cs typeface="Times New Roman" panose="02020603050405020304" charset="0"/>
            </a:endParaRPr>
          </a:p>
        </p:txBody>
      </p:sp>
      <p:sp>
        <p:nvSpPr>
          <p:cNvPr id="16" name="TextBox 15"/>
          <p:cNvSpPr txBox="1"/>
          <p:nvPr/>
        </p:nvSpPr>
        <p:spPr>
          <a:xfrm>
            <a:off x="7799831" y="1865376"/>
            <a:ext cx="1499616" cy="219710"/>
          </a:xfrm>
          <a:prstGeom prst="rect">
            <a:avLst/>
          </a:prstGeom>
          <a:noFill/>
        </p:spPr>
        <p:txBody>
          <a:bodyPr wrap="square" lIns="27432" tIns="18288" rIns="27432" bIns="18288" anchor="t">
            <a:spAutoFit/>
          </a:bodyPr>
          <a:lstStyle/>
          <a:p>
            <a:pPr algn="ctr">
              <a:spcAft>
                <a:spcPts val="500"/>
              </a:spcAft>
            </a:pPr>
            <a:r>
              <a:rPr sz="1200" b="0">
                <a:solidFill>
                  <a:srgbClr val="28302A"/>
                </a:solidFill>
                <a:latin typeface="Times New Roman" panose="02020603050405020304" charset="0"/>
                <a:cs typeface="Times New Roman" panose="02020603050405020304" charset="0"/>
              </a:rPr>
              <a:t>Store readings</a:t>
            </a:r>
            <a:endParaRPr sz="1200" b="0">
              <a:solidFill>
                <a:srgbClr val="28302A"/>
              </a:solidFill>
              <a:latin typeface="Times New Roman" panose="02020603050405020304" charset="0"/>
              <a:cs typeface="Times New Roman" panose="02020603050405020304" charset="0"/>
            </a:endParaRPr>
          </a:p>
        </p:txBody>
      </p:sp>
      <p:sp>
        <p:nvSpPr>
          <p:cNvPr id="17" name="Rounded Rectangle 16"/>
          <p:cNvSpPr/>
          <p:nvPr/>
        </p:nvSpPr>
        <p:spPr>
          <a:xfrm>
            <a:off x="9692640" y="1371600"/>
            <a:ext cx="1874519" cy="960120"/>
          </a:xfrm>
          <a:prstGeom prst="roundRect">
            <a:avLst/>
          </a:prstGeom>
          <a:solidFill>
            <a:srgbClr val="D0E7D3"/>
          </a:solidFill>
          <a:ln>
            <a:solidFill>
              <a:srgbClr val="D0E7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765792" y="1527048"/>
            <a:ext cx="1728216" cy="250825"/>
          </a:xfrm>
          <a:prstGeom prst="rect">
            <a:avLst/>
          </a:prstGeom>
          <a:noFill/>
        </p:spPr>
        <p:txBody>
          <a:bodyPr wrap="square" lIns="27432" tIns="18288" rIns="27432" bIns="18288" anchor="t">
            <a:spAutoFit/>
          </a:bodyPr>
          <a:lstStyle/>
          <a:p>
            <a:pPr algn="ctr">
              <a:spcAft>
                <a:spcPts val="500"/>
              </a:spcAft>
            </a:pPr>
            <a:r>
              <a:rPr sz="1400" b="1">
                <a:solidFill>
                  <a:srgbClr val="27633D"/>
                </a:solidFill>
                <a:latin typeface="Times New Roman" panose="02020603050405020304" charset="0"/>
                <a:cs typeface="Times New Roman" panose="02020603050405020304" charset="0"/>
              </a:rPr>
              <a:t>Dashboard</a:t>
            </a:r>
            <a:endParaRPr sz="1400" b="1">
              <a:solidFill>
                <a:srgbClr val="27633D"/>
              </a:solidFill>
              <a:latin typeface="Times New Roman" panose="02020603050405020304" charset="0"/>
              <a:cs typeface="Times New Roman" panose="02020603050405020304" charset="0"/>
            </a:endParaRPr>
          </a:p>
        </p:txBody>
      </p:sp>
      <p:sp>
        <p:nvSpPr>
          <p:cNvPr id="19" name="TextBox 18"/>
          <p:cNvSpPr txBox="1"/>
          <p:nvPr/>
        </p:nvSpPr>
        <p:spPr>
          <a:xfrm>
            <a:off x="9765792" y="1865376"/>
            <a:ext cx="1728216" cy="219710"/>
          </a:xfrm>
          <a:prstGeom prst="rect">
            <a:avLst/>
          </a:prstGeom>
          <a:noFill/>
        </p:spPr>
        <p:txBody>
          <a:bodyPr wrap="square" lIns="27432" tIns="18288" rIns="27432" bIns="18288" anchor="t">
            <a:spAutoFit/>
          </a:bodyPr>
          <a:lstStyle/>
          <a:p>
            <a:pPr algn="ctr">
              <a:spcAft>
                <a:spcPts val="500"/>
              </a:spcAft>
            </a:pPr>
            <a:r>
              <a:rPr sz="1200" b="0">
                <a:solidFill>
                  <a:srgbClr val="28302A"/>
                </a:solidFill>
                <a:latin typeface="Times New Roman" panose="02020603050405020304" charset="0"/>
                <a:cs typeface="Times New Roman" panose="02020603050405020304" charset="0"/>
              </a:rPr>
              <a:t>Values • charts • alerts</a:t>
            </a:r>
            <a:endParaRPr sz="1200" b="0">
              <a:solidFill>
                <a:srgbClr val="28302A"/>
              </a:solidFill>
              <a:latin typeface="Times New Roman" panose="02020603050405020304" charset="0"/>
              <a:cs typeface="Times New Roman" panose="02020603050405020304" charset="0"/>
            </a:endParaRPr>
          </a:p>
        </p:txBody>
      </p:sp>
      <p:cxnSp>
        <p:nvCxnSpPr>
          <p:cNvPr id="20" name="Connector 19"/>
          <p:cNvCxnSpPr/>
          <p:nvPr/>
        </p:nvCxnSpPr>
        <p:spPr>
          <a:xfrm>
            <a:off x="2651760" y="1856231"/>
            <a:ext cx="320040" cy="0"/>
          </a:xfrm>
          <a:prstGeom prst="line">
            <a:avLst/>
          </a:prstGeom>
          <a:ln w="25400">
            <a:solidFill>
              <a:srgbClr val="27633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5029200" y="1856231"/>
            <a:ext cx="320040" cy="0"/>
          </a:xfrm>
          <a:prstGeom prst="line">
            <a:avLst/>
          </a:prstGeom>
          <a:ln w="25400">
            <a:solidFill>
              <a:srgbClr val="27633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7406640" y="1856231"/>
            <a:ext cx="320039" cy="0"/>
          </a:xfrm>
          <a:prstGeom prst="line">
            <a:avLst/>
          </a:prstGeom>
          <a:ln w="25400">
            <a:solidFill>
              <a:srgbClr val="27633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9372600" y="1856231"/>
            <a:ext cx="320040" cy="0"/>
          </a:xfrm>
          <a:prstGeom prst="line">
            <a:avLst/>
          </a:prstGeom>
          <a:ln w="25400">
            <a:solidFill>
              <a:srgbClr val="27633D"/>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914400" y="2971800"/>
            <a:ext cx="10332720" cy="312420"/>
          </a:xfrm>
          <a:prstGeom prst="rect">
            <a:avLst/>
          </a:prstGeom>
          <a:noFill/>
        </p:spPr>
        <p:txBody>
          <a:bodyPr wrap="square" lIns="27432" tIns="18288" rIns="27432" bIns="18288" anchor="t">
            <a:spAutoFit/>
          </a:bodyPr>
          <a:lstStyle/>
          <a:p>
            <a:pPr algn="l">
              <a:spcAft>
                <a:spcPts val="500"/>
              </a:spcAft>
            </a:pPr>
            <a:r>
              <a:rPr lang="en-US" altLang="en-US" sz="1800" b="1">
                <a:solidFill>
                  <a:srgbClr val="28302A"/>
                </a:solidFill>
                <a:latin typeface="Times New Roman" panose="02020603050405020304" charset="0"/>
                <a:cs typeface="Times New Roman" panose="02020603050405020304" charset="0"/>
              </a:rPr>
              <a:t>“Water monitoring data is processed and displayed on the dashboard.”</a:t>
            </a:r>
            <a:endParaRPr lang="en-US" altLang="en-US" sz="1800" b="1">
              <a:solidFill>
                <a:srgbClr val="28302A"/>
              </a:solidFill>
              <a:latin typeface="Times New Roman" panose="02020603050405020304" charset="0"/>
              <a:cs typeface="Times New Roman" panose="02020603050405020304" charset="0"/>
            </a:endParaRPr>
          </a:p>
        </p:txBody>
      </p:sp>
      <p:sp>
        <p:nvSpPr>
          <p:cNvPr id="25" name="Rounded Rectangle 24"/>
          <p:cNvSpPr/>
          <p:nvPr/>
        </p:nvSpPr>
        <p:spPr>
          <a:xfrm>
            <a:off x="914400" y="3886200"/>
            <a:ext cx="2971800" cy="1325880"/>
          </a:xfrm>
          <a:prstGeom prst="roundRect">
            <a:avLst/>
          </a:prstGeom>
          <a:solidFill>
            <a:srgbClr val="FFFFFF"/>
          </a:solidFill>
          <a:ln w="15240">
            <a:solidFill>
              <a:srgbClr val="D0E7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115568" y="4069080"/>
            <a:ext cx="2569464" cy="347472"/>
          </a:xfrm>
          <a:prstGeom prst="rect">
            <a:avLst/>
          </a:prstGeom>
          <a:noFill/>
        </p:spPr>
        <p:txBody>
          <a:bodyPr wrap="square" lIns="27432" tIns="18288" rIns="27432" bIns="18288" anchor="t">
            <a:spAutoFit/>
          </a:bodyPr>
          <a:lstStyle/>
          <a:p>
            <a:pPr algn="l">
              <a:spcAft>
                <a:spcPts val="500"/>
              </a:spcAft>
            </a:pPr>
            <a:r>
              <a:rPr sz="1700" b="1">
                <a:solidFill>
                  <a:srgbClr val="27633D"/>
                </a:solidFill>
                <a:latin typeface="Aptos"/>
              </a:rPr>
              <a:t>Input</a:t>
            </a:r>
            <a:endParaRPr sz="1700" b="1">
              <a:solidFill>
                <a:srgbClr val="27633D"/>
              </a:solidFill>
              <a:latin typeface="Aptos"/>
            </a:endParaRPr>
          </a:p>
        </p:txBody>
      </p:sp>
      <p:sp>
        <p:nvSpPr>
          <p:cNvPr id="27" name="TextBox 26"/>
          <p:cNvSpPr txBox="1"/>
          <p:nvPr/>
        </p:nvSpPr>
        <p:spPr>
          <a:xfrm>
            <a:off x="1115568" y="4544568"/>
            <a:ext cx="2569464" cy="250825"/>
          </a:xfrm>
          <a:prstGeom prst="rect">
            <a:avLst/>
          </a:prstGeom>
          <a:noFill/>
        </p:spPr>
        <p:txBody>
          <a:bodyPr wrap="square" lIns="27432" tIns="18288" rIns="27432" bIns="18288" anchor="t">
            <a:spAutoFit/>
          </a:bodyPr>
          <a:lstStyle/>
          <a:p>
            <a:pPr algn="l">
              <a:spcAft>
                <a:spcPts val="500"/>
              </a:spcAft>
            </a:pPr>
            <a:r>
              <a:rPr sz="1400" b="0">
                <a:solidFill>
                  <a:srgbClr val="28302A"/>
                </a:solidFill>
                <a:latin typeface="Times New Roman" panose="02020603050405020304" charset="0"/>
                <a:cs typeface="Times New Roman" panose="02020603050405020304" charset="0"/>
              </a:rPr>
              <a:t>Sensor or sample data</a:t>
            </a:r>
            <a:endParaRPr sz="1400" b="0">
              <a:solidFill>
                <a:srgbClr val="28302A"/>
              </a:solidFill>
              <a:latin typeface="Times New Roman" panose="02020603050405020304" charset="0"/>
              <a:cs typeface="Times New Roman" panose="02020603050405020304" charset="0"/>
            </a:endParaRPr>
          </a:p>
        </p:txBody>
      </p:sp>
      <p:sp>
        <p:nvSpPr>
          <p:cNvPr id="28" name="Rounded Rectangle 27"/>
          <p:cNvSpPr/>
          <p:nvPr/>
        </p:nvSpPr>
        <p:spPr>
          <a:xfrm>
            <a:off x="4572000" y="3886200"/>
            <a:ext cx="2971800" cy="1325880"/>
          </a:xfrm>
          <a:prstGeom prst="roundRect">
            <a:avLst/>
          </a:prstGeom>
          <a:solidFill>
            <a:srgbClr val="FFFFFF"/>
          </a:solidFill>
          <a:ln w="15240">
            <a:solidFill>
              <a:srgbClr val="D0E7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773168" y="4069080"/>
            <a:ext cx="2569464" cy="296545"/>
          </a:xfrm>
          <a:prstGeom prst="rect">
            <a:avLst/>
          </a:prstGeom>
          <a:noFill/>
        </p:spPr>
        <p:txBody>
          <a:bodyPr wrap="square" lIns="27432" tIns="18288" rIns="27432" bIns="18288" anchor="t">
            <a:spAutoFit/>
          </a:bodyPr>
          <a:lstStyle/>
          <a:p>
            <a:pPr algn="l">
              <a:spcAft>
                <a:spcPts val="500"/>
              </a:spcAft>
            </a:pPr>
            <a:r>
              <a:rPr sz="1700" b="1">
                <a:solidFill>
                  <a:srgbClr val="27633D"/>
                </a:solidFill>
                <a:latin typeface="Times New Roman" panose="02020603050405020304" charset="0"/>
                <a:cs typeface="Times New Roman" panose="02020603050405020304" charset="0"/>
              </a:rPr>
              <a:t>Processing</a:t>
            </a:r>
            <a:endParaRPr sz="1700" b="1">
              <a:solidFill>
                <a:srgbClr val="27633D"/>
              </a:solidFill>
              <a:latin typeface="Times New Roman" panose="02020603050405020304" charset="0"/>
              <a:cs typeface="Times New Roman" panose="02020603050405020304" charset="0"/>
            </a:endParaRPr>
          </a:p>
        </p:txBody>
      </p:sp>
      <p:sp>
        <p:nvSpPr>
          <p:cNvPr id="30" name="TextBox 29"/>
          <p:cNvSpPr txBox="1"/>
          <p:nvPr/>
        </p:nvSpPr>
        <p:spPr>
          <a:xfrm>
            <a:off x="4773168" y="4544568"/>
            <a:ext cx="2569464" cy="250825"/>
          </a:xfrm>
          <a:prstGeom prst="rect">
            <a:avLst/>
          </a:prstGeom>
          <a:noFill/>
        </p:spPr>
        <p:txBody>
          <a:bodyPr wrap="square" lIns="27432" tIns="18288" rIns="27432" bIns="18288" anchor="t">
            <a:spAutoFit/>
          </a:bodyPr>
          <a:lstStyle/>
          <a:p>
            <a:pPr algn="l">
              <a:spcAft>
                <a:spcPts val="500"/>
              </a:spcAft>
            </a:pPr>
            <a:r>
              <a:rPr sz="1400" b="0">
                <a:solidFill>
                  <a:srgbClr val="28302A"/>
                </a:solidFill>
                <a:latin typeface="Times New Roman" panose="02020603050405020304" charset="0"/>
                <a:cs typeface="Times New Roman" panose="02020603050405020304" charset="0"/>
              </a:rPr>
              <a:t>Check and organize readings</a:t>
            </a:r>
            <a:endParaRPr sz="1400" b="0">
              <a:solidFill>
                <a:srgbClr val="28302A"/>
              </a:solidFill>
              <a:latin typeface="Times New Roman" panose="02020603050405020304" charset="0"/>
              <a:cs typeface="Times New Roman" panose="02020603050405020304" charset="0"/>
            </a:endParaRPr>
          </a:p>
        </p:txBody>
      </p:sp>
      <p:sp>
        <p:nvSpPr>
          <p:cNvPr id="31" name="Rounded Rectangle 30"/>
          <p:cNvSpPr/>
          <p:nvPr/>
        </p:nvSpPr>
        <p:spPr>
          <a:xfrm>
            <a:off x="8229600" y="3886200"/>
            <a:ext cx="2971800" cy="1325880"/>
          </a:xfrm>
          <a:prstGeom prst="roundRect">
            <a:avLst/>
          </a:prstGeom>
          <a:solidFill>
            <a:srgbClr val="FFFFFF"/>
          </a:solidFill>
          <a:ln w="15240">
            <a:solidFill>
              <a:srgbClr val="D0E7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430768" y="4069080"/>
            <a:ext cx="2569464" cy="296545"/>
          </a:xfrm>
          <a:prstGeom prst="rect">
            <a:avLst/>
          </a:prstGeom>
          <a:noFill/>
        </p:spPr>
        <p:txBody>
          <a:bodyPr wrap="square" lIns="27432" tIns="18288" rIns="27432" bIns="18288" anchor="t">
            <a:spAutoFit/>
          </a:bodyPr>
          <a:lstStyle/>
          <a:p>
            <a:pPr algn="l">
              <a:spcAft>
                <a:spcPts val="500"/>
              </a:spcAft>
            </a:pPr>
            <a:r>
              <a:rPr sz="1700" b="1">
                <a:solidFill>
                  <a:srgbClr val="27633D"/>
                </a:solidFill>
                <a:latin typeface="Times New Roman" panose="02020603050405020304" charset="0"/>
                <a:cs typeface="Times New Roman" panose="02020603050405020304" charset="0"/>
              </a:rPr>
              <a:t>Output</a:t>
            </a:r>
            <a:endParaRPr sz="1700" b="1">
              <a:solidFill>
                <a:srgbClr val="27633D"/>
              </a:solidFill>
              <a:latin typeface="Times New Roman" panose="02020603050405020304" charset="0"/>
              <a:cs typeface="Times New Roman" panose="02020603050405020304" charset="0"/>
            </a:endParaRPr>
          </a:p>
        </p:txBody>
      </p:sp>
      <p:sp>
        <p:nvSpPr>
          <p:cNvPr id="33" name="TextBox 32"/>
          <p:cNvSpPr txBox="1"/>
          <p:nvPr/>
        </p:nvSpPr>
        <p:spPr>
          <a:xfrm>
            <a:off x="8430768" y="4544568"/>
            <a:ext cx="2569464" cy="250825"/>
          </a:xfrm>
          <a:prstGeom prst="rect">
            <a:avLst/>
          </a:prstGeom>
          <a:noFill/>
        </p:spPr>
        <p:txBody>
          <a:bodyPr wrap="square" lIns="27432" tIns="18288" rIns="27432" bIns="18288" anchor="t">
            <a:spAutoFit/>
          </a:bodyPr>
          <a:lstStyle/>
          <a:p>
            <a:pPr algn="l">
              <a:spcAft>
                <a:spcPts val="500"/>
              </a:spcAft>
            </a:pPr>
            <a:r>
              <a:rPr sz="1400" b="0">
                <a:solidFill>
                  <a:srgbClr val="28302A"/>
                </a:solidFill>
                <a:latin typeface="Times New Roman" panose="02020603050405020304" charset="0"/>
                <a:cs typeface="Times New Roman" panose="02020603050405020304" charset="0"/>
              </a:rPr>
              <a:t>Show values and alerts</a:t>
            </a:r>
            <a:endParaRPr sz="1400" b="0">
              <a:solidFill>
                <a:srgbClr val="28302A"/>
              </a:solidFill>
              <a:latin typeface="Times New Roman" panose="02020603050405020304" charset="0"/>
              <a:cs typeface="Times New Roman" panose="0202060305040502030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9F6"/>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276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38912"/>
            <a:ext cx="10881360" cy="497205"/>
          </a:xfrm>
          <a:prstGeom prst="rect">
            <a:avLst/>
          </a:prstGeom>
          <a:noFill/>
        </p:spPr>
        <p:txBody>
          <a:bodyPr wrap="square" lIns="27432" tIns="18288" rIns="27432" bIns="18288" anchor="t">
            <a:spAutoFit/>
          </a:bodyPr>
          <a:lstStyle/>
          <a:p>
            <a:pPr algn="l">
              <a:spcAft>
                <a:spcPts val="500"/>
              </a:spcAft>
            </a:pPr>
            <a:r>
              <a:rPr sz="3000" b="1">
                <a:solidFill>
                  <a:srgbClr val="27633D"/>
                </a:solidFill>
                <a:latin typeface="Times New Roman" panose="02020603050405020304" charset="0"/>
                <a:cs typeface="Times New Roman" panose="02020603050405020304" charset="0"/>
              </a:rPr>
              <a:t>Implementation Details</a:t>
            </a:r>
            <a:endParaRPr sz="3000" b="1">
              <a:solidFill>
                <a:srgbClr val="27633D"/>
              </a:solidFill>
              <a:latin typeface="Times New Roman" panose="02020603050405020304" charset="0"/>
              <a:cs typeface="Times New Roman" panose="02020603050405020304" charset="0"/>
            </a:endParaRPr>
          </a:p>
        </p:txBody>
      </p:sp>
      <p:sp>
        <p:nvSpPr>
          <p:cNvPr id="4" name="TextBox 3"/>
          <p:cNvSpPr txBox="1"/>
          <p:nvPr/>
        </p:nvSpPr>
        <p:spPr>
          <a:xfrm>
            <a:off x="9326880" y="6473952"/>
            <a:ext cx="2240280" cy="182880"/>
          </a:xfrm>
          <a:prstGeom prst="rect">
            <a:avLst/>
          </a:prstGeom>
          <a:noFill/>
        </p:spPr>
        <p:txBody>
          <a:bodyPr wrap="square" lIns="27432" tIns="18288" rIns="27432" bIns="18288" anchor="t">
            <a:spAutoFit/>
          </a:bodyPr>
          <a:lstStyle/>
          <a:p>
            <a:pPr algn="r">
              <a:spcAft>
                <a:spcPts val="500"/>
              </a:spcAft>
            </a:pPr>
            <a:r>
              <a:rPr sz="900" b="1">
                <a:solidFill>
                  <a:srgbClr val="646E67"/>
                </a:solidFill>
                <a:latin typeface="Aptos"/>
              </a:rPr>
              <a:t>HYDROPULSE  •  06</a:t>
            </a:r>
            <a:endParaRPr sz="900" b="1">
              <a:solidFill>
                <a:srgbClr val="646E67"/>
              </a:solidFill>
              <a:latin typeface="Aptos"/>
            </a:endParaRPr>
          </a:p>
        </p:txBody>
      </p:sp>
      <p:sp>
        <p:nvSpPr>
          <p:cNvPr id="5" name="TextBox 4"/>
          <p:cNvSpPr txBox="1"/>
          <p:nvPr/>
        </p:nvSpPr>
        <p:spPr>
          <a:xfrm>
            <a:off x="658495" y="1228725"/>
            <a:ext cx="10149840" cy="4735830"/>
          </a:xfrm>
          <a:prstGeom prst="rect">
            <a:avLst/>
          </a:prstGeom>
          <a:noFill/>
        </p:spPr>
        <p:txBody>
          <a:bodyPr wrap="square" lIns="73152" rIns="45720">
            <a:spAutoFit/>
          </a:bodyPr>
          <a:lstStyle/>
          <a:p>
            <a:pPr>
              <a:spcAft>
                <a:spcPts val="1700"/>
              </a:spcAft>
              <a:defRPr sz="2100">
                <a:solidFill>
                  <a:srgbClr val="28302A"/>
                </a:solidFill>
                <a:latin typeface="Aptos"/>
              </a:defRPr>
            </a:pPr>
            <a:r>
              <a:rPr lang="en-US" altLang="en-US">
                <a:latin typeface="Times New Roman" panose="02020603050405020304" charset="0"/>
                <a:cs typeface="Times New Roman" panose="02020603050405020304" charset="0"/>
              </a:rPr>
              <a:t>1. Frontend Development: React.js provides an interactive dashboard to display water level, flow rate, temperature, and water quality.</a:t>
            </a:r>
            <a:endParaRPr lang="en-US" altLang="en-US">
              <a:latin typeface="Times New Roman" panose="02020603050405020304" charset="0"/>
              <a:cs typeface="Times New Roman" panose="02020603050405020304" charset="0"/>
            </a:endParaRPr>
          </a:p>
          <a:p>
            <a:pPr>
              <a:spcAft>
                <a:spcPts val="1700"/>
              </a:spcAft>
              <a:defRPr sz="2100">
                <a:solidFill>
                  <a:srgbClr val="28302A"/>
                </a:solidFill>
                <a:latin typeface="Aptos"/>
              </a:defRPr>
            </a:pPr>
            <a:r>
              <a:rPr lang="en-US" altLang="en-US">
                <a:latin typeface="Times New Roman" panose="02020603050405020304" charset="0"/>
                <a:cs typeface="Times New Roman" panose="02020603050405020304" charset="0"/>
              </a:rPr>
              <a:t>2. Backend Development: Node.js and Express.js handle API requests and provide readings to the frontend.</a:t>
            </a:r>
            <a:endParaRPr lang="en-US" altLang="en-US">
              <a:latin typeface="Times New Roman" panose="02020603050405020304" charset="0"/>
              <a:cs typeface="Times New Roman" panose="02020603050405020304" charset="0"/>
            </a:endParaRPr>
          </a:p>
          <a:p>
            <a:pPr>
              <a:spcAft>
                <a:spcPts val="1700"/>
              </a:spcAft>
              <a:defRPr sz="2100">
                <a:solidFill>
                  <a:srgbClr val="28302A"/>
                </a:solidFill>
                <a:latin typeface="Aptos"/>
              </a:defRPr>
            </a:pPr>
            <a:r>
              <a:rPr lang="en-US" altLang="en-US">
                <a:latin typeface="Times New Roman" panose="02020603050405020304" charset="0"/>
                <a:cs typeface="Times New Roman" panose="02020603050405020304" charset="0"/>
              </a:rPr>
              <a:t>3. Data Visualization: Graphs and analytics help users understand water usage and monitor system conditions.</a:t>
            </a:r>
            <a:endParaRPr lang="en-US" altLang="en-US">
              <a:latin typeface="Times New Roman" panose="02020603050405020304" charset="0"/>
              <a:cs typeface="Times New Roman" panose="02020603050405020304" charset="0"/>
            </a:endParaRPr>
          </a:p>
          <a:p>
            <a:pPr>
              <a:spcAft>
                <a:spcPts val="1700"/>
              </a:spcAft>
              <a:defRPr sz="2100">
                <a:solidFill>
                  <a:srgbClr val="28302A"/>
                </a:solidFill>
                <a:latin typeface="Aptos"/>
              </a:defRPr>
            </a:pPr>
            <a:r>
              <a:rPr lang="en-US" altLang="en-US">
                <a:latin typeface="Times New Roman" panose="02020603050405020304" charset="0"/>
                <a:cs typeface="Times New Roman" panose="02020603050405020304" charset="0"/>
              </a:rPr>
              <a:t>4. Simulated Data: The prototype uses simulated sensor readings to demonstrate monitoring functionality.</a:t>
            </a:r>
            <a:endParaRPr lang="en-US" altLang="en-US">
              <a:latin typeface="Times New Roman" panose="02020603050405020304" charset="0"/>
              <a:cs typeface="Times New Roman" panose="02020603050405020304" charset="0"/>
            </a:endParaRPr>
          </a:p>
          <a:p>
            <a:pPr>
              <a:spcAft>
                <a:spcPts val="1700"/>
              </a:spcAft>
              <a:defRPr sz="2100">
                <a:solidFill>
                  <a:srgbClr val="28302A"/>
                </a:solidFill>
                <a:latin typeface="Aptos"/>
              </a:defRPr>
            </a:pPr>
            <a:r>
              <a:rPr lang="en-US" altLang="en-US">
                <a:latin typeface="Times New Roman" panose="02020603050405020304" charset="0"/>
                <a:cs typeface="Times New Roman" panose="02020603050405020304" charset="0"/>
              </a:rPr>
              <a:t>5. Monitoring Modules: Includes water level monitoring, analytics, usage records, and system alerts.</a:t>
            </a:r>
            <a:endParaRPr lang="en-US" altLang="en-US">
              <a:latin typeface="Times New Roman" panose="02020603050405020304" charset="0"/>
              <a:cs typeface="Times New Roman" panose="02020603050405020304" charset="0"/>
            </a:endParaRPr>
          </a:p>
          <a:p>
            <a:pPr>
              <a:spcAft>
                <a:spcPts val="1700"/>
              </a:spcAft>
              <a:defRPr sz="2100">
                <a:solidFill>
                  <a:srgbClr val="28302A"/>
                </a:solidFill>
                <a:latin typeface="Aptos"/>
              </a:defRPr>
            </a:pPr>
            <a:r>
              <a:rPr lang="en-US" altLang="en-US">
                <a:latin typeface="Times New Roman" panose="02020603050405020304" charset="0"/>
                <a:cs typeface="Times New Roman" panose="02020603050405020304" charset="0"/>
              </a:rPr>
              <a:t>6. Local Deployment: The frontend and backend run on separate local servers.</a:t>
            </a:r>
            <a:endParaRPr lang="en-US" altLang="en-US">
              <a:latin typeface="Times New Roman" panose="02020603050405020304" charset="0"/>
              <a:cs typeface="Times New Roman" panose="0202060305040502030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365" cy="146304"/>
          </a:xfrm>
          <a:prstGeom prst="rect">
            <a:avLst/>
          </a:prstGeom>
          <a:solidFill>
            <a:srgbClr val="276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13232" y="1325880"/>
            <a:ext cx="10744200" cy="4800600"/>
          </a:xfrm>
          <a:prstGeom prst="roundRect">
            <a:avLst/>
          </a:prstGeom>
          <a:solidFill>
            <a:srgbClr val="FFFFFF"/>
          </a:solidFill>
          <a:ln w="15240">
            <a:solidFill>
              <a:srgbClr val="D0E7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869680" y="6473952"/>
            <a:ext cx="2651760" cy="182880"/>
          </a:xfrm>
          <a:prstGeom prst="rect">
            <a:avLst/>
          </a:prstGeom>
          <a:noFill/>
        </p:spPr>
        <p:txBody>
          <a:bodyPr wrap="square" lIns="27432" tIns="18288" rIns="27432" bIns="18288" anchor="t">
            <a:spAutoFit/>
          </a:bodyPr>
          <a:lstStyle/>
          <a:p>
            <a:pPr algn="r"/>
            <a:r>
              <a:rPr sz="900" b="1">
                <a:solidFill>
                  <a:srgbClr val="646E67"/>
                </a:solidFill>
                <a:latin typeface="Aptos"/>
              </a:rPr>
              <a:t>HYDROPULSE  •  09</a:t>
            </a:r>
            <a:endParaRPr sz="900" b="1">
              <a:solidFill>
                <a:srgbClr val="646E67"/>
              </a:solidFill>
              <a:latin typeface="Aptos"/>
            </a:endParaRPr>
          </a:p>
        </p:txBody>
      </p:sp>
      <p:sp>
        <p:nvSpPr>
          <p:cNvPr id="3" name="Text Box 2"/>
          <p:cNvSpPr txBox="1"/>
          <p:nvPr/>
        </p:nvSpPr>
        <p:spPr>
          <a:xfrm>
            <a:off x="822325" y="425450"/>
            <a:ext cx="6096000" cy="553085"/>
          </a:xfrm>
          <a:prstGeom prst="rect">
            <a:avLst/>
          </a:prstGeom>
          <a:noFill/>
        </p:spPr>
        <p:txBody>
          <a:bodyPr wrap="square" rtlCol="0" anchor="t">
            <a:spAutoFit/>
          </a:bodyPr>
          <a:p>
            <a:pPr algn="l">
              <a:spcAft>
                <a:spcPts val="500"/>
              </a:spcAft>
            </a:pPr>
            <a:r>
              <a:rPr sz="3000" b="1">
                <a:solidFill>
                  <a:srgbClr val="27633D"/>
                </a:solidFill>
                <a:latin typeface="Times New Roman" panose="02020603050405020304" charset="0"/>
                <a:cs typeface="Times New Roman" panose="02020603050405020304" charset="0"/>
                <a:sym typeface="+mn-ea"/>
              </a:rPr>
              <a:t>Output Screens</a:t>
            </a:r>
            <a:r>
              <a:rPr lang="en-US" sz="3000" b="1">
                <a:solidFill>
                  <a:srgbClr val="27633D"/>
                </a:solidFill>
                <a:latin typeface="Times New Roman" panose="02020603050405020304" charset="0"/>
                <a:cs typeface="Times New Roman" panose="02020603050405020304" charset="0"/>
                <a:sym typeface="+mn-ea"/>
              </a:rPr>
              <a:t>hots</a:t>
            </a:r>
            <a:endParaRPr lang="en-US" sz="3000" b="1">
              <a:solidFill>
                <a:srgbClr val="27633D"/>
              </a:solidFill>
              <a:latin typeface="Times New Roman" panose="02020603050405020304" charset="0"/>
              <a:cs typeface="Times New Roman" panose="02020603050405020304" charset="0"/>
              <a:sym typeface="+mn-ea"/>
            </a:endParaRPr>
          </a:p>
        </p:txBody>
      </p:sp>
      <p:sp>
        <p:nvSpPr>
          <p:cNvPr id="7" name="Text Box 6"/>
          <p:cNvSpPr txBox="1"/>
          <p:nvPr/>
        </p:nvSpPr>
        <p:spPr>
          <a:xfrm>
            <a:off x="1045845" y="1673860"/>
            <a:ext cx="10137775" cy="398780"/>
          </a:xfrm>
          <a:prstGeom prst="rect">
            <a:avLst/>
          </a:prstGeom>
          <a:noFill/>
        </p:spPr>
        <p:txBody>
          <a:bodyPr wrap="square" rtlCol="0" anchor="t">
            <a:spAutoFit/>
          </a:bodyPr>
          <a:p>
            <a:pPr algn="l">
              <a:spcAft>
                <a:spcPts val="500"/>
              </a:spcAft>
            </a:pPr>
            <a:endParaRPr lang="en-US" sz="2000" b="1">
              <a:solidFill>
                <a:srgbClr val="27633D"/>
              </a:solidFill>
              <a:latin typeface="Times New Roman" panose="02020603050405020304" charset="0"/>
              <a:cs typeface="Times New Roman" panose="02020603050405020304" charset="0"/>
              <a:sym typeface="+mn-ea"/>
            </a:endParaRPr>
          </a:p>
        </p:txBody>
      </p:sp>
      <p:pic>
        <p:nvPicPr>
          <p:cNvPr id="8" name="Picture 7"/>
          <p:cNvPicPr>
            <a:picLocks noChangeAspect="1"/>
          </p:cNvPicPr>
          <p:nvPr/>
        </p:nvPicPr>
        <p:blipFill>
          <a:blip r:embed="rId1"/>
          <a:stretch>
            <a:fillRect/>
          </a:stretch>
        </p:blipFill>
        <p:spPr>
          <a:xfrm>
            <a:off x="822325" y="2204085"/>
            <a:ext cx="4508500" cy="2968625"/>
          </a:xfrm>
          <a:prstGeom prst="rect">
            <a:avLst/>
          </a:prstGeom>
        </p:spPr>
      </p:pic>
      <p:pic>
        <p:nvPicPr>
          <p:cNvPr id="10" name="Picture 9"/>
          <p:cNvPicPr>
            <a:picLocks noChangeAspect="1"/>
          </p:cNvPicPr>
          <p:nvPr/>
        </p:nvPicPr>
        <p:blipFill>
          <a:blip r:embed="rId2"/>
          <a:stretch>
            <a:fillRect/>
          </a:stretch>
        </p:blipFill>
        <p:spPr>
          <a:xfrm>
            <a:off x="6423025" y="2227580"/>
            <a:ext cx="4580890" cy="299656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9F6"/>
        </a:solidFill>
        <a:effectLst/>
      </p:bgPr>
    </p:bg>
    <p:spTree>
      <p:nvGrpSpPr>
        <p:cNvPr id="1" name=""/>
        <p:cNvGrpSpPr/>
        <p:nvPr/>
      </p:nvGrpSpPr>
      <p:grpSpPr/>
      <p:sp>
        <p:nvSpPr>
          <p:cNvPr id="2" name="Rectangle 1"/>
          <p:cNvSpPr/>
          <p:nvPr/>
        </p:nvSpPr>
        <p:spPr>
          <a:xfrm>
            <a:off x="0" y="0"/>
            <a:ext cx="12191365" cy="146304"/>
          </a:xfrm>
          <a:prstGeom prst="rect">
            <a:avLst/>
          </a:prstGeom>
          <a:solidFill>
            <a:srgbClr val="276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13232" y="1325880"/>
            <a:ext cx="10744200" cy="4800600"/>
          </a:xfrm>
          <a:prstGeom prst="roundRect">
            <a:avLst/>
          </a:prstGeom>
          <a:solidFill>
            <a:srgbClr val="FFFFFF"/>
          </a:solidFill>
          <a:ln w="15240">
            <a:solidFill>
              <a:srgbClr val="D0E7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869680" y="6473952"/>
            <a:ext cx="2651760" cy="182880"/>
          </a:xfrm>
          <a:prstGeom prst="rect">
            <a:avLst/>
          </a:prstGeom>
          <a:noFill/>
        </p:spPr>
        <p:txBody>
          <a:bodyPr wrap="square" lIns="27432" tIns="18288" rIns="27432" bIns="18288" anchor="t">
            <a:spAutoFit/>
          </a:bodyPr>
          <a:lstStyle/>
          <a:p>
            <a:pPr algn="r"/>
            <a:r>
              <a:rPr sz="900" b="1">
                <a:solidFill>
                  <a:srgbClr val="646E67"/>
                </a:solidFill>
                <a:latin typeface="Aptos"/>
              </a:rPr>
              <a:t>HYDROPULSE  •  09</a:t>
            </a:r>
            <a:endParaRPr sz="900" b="1">
              <a:solidFill>
                <a:srgbClr val="646E67"/>
              </a:solidFill>
              <a:latin typeface="Aptos"/>
            </a:endParaRPr>
          </a:p>
        </p:txBody>
      </p:sp>
      <p:pic>
        <p:nvPicPr>
          <p:cNvPr id="3" name="Picture 2"/>
          <p:cNvPicPr>
            <a:picLocks noChangeAspect="1"/>
          </p:cNvPicPr>
          <p:nvPr/>
        </p:nvPicPr>
        <p:blipFill>
          <a:blip r:embed="rId1"/>
          <a:stretch>
            <a:fillRect/>
          </a:stretch>
        </p:blipFill>
        <p:spPr>
          <a:xfrm>
            <a:off x="1258570" y="1778000"/>
            <a:ext cx="5033010" cy="3154680"/>
          </a:xfrm>
          <a:prstGeom prst="rect">
            <a:avLst/>
          </a:prstGeom>
        </p:spPr>
      </p:pic>
      <p:pic>
        <p:nvPicPr>
          <p:cNvPr id="6" name="Picture 5"/>
          <p:cNvPicPr>
            <a:picLocks noChangeAspect="1"/>
          </p:cNvPicPr>
          <p:nvPr/>
        </p:nvPicPr>
        <p:blipFill>
          <a:blip r:embed="rId2"/>
          <a:stretch>
            <a:fillRect/>
          </a:stretch>
        </p:blipFill>
        <p:spPr>
          <a:xfrm>
            <a:off x="6551295" y="1778000"/>
            <a:ext cx="4344670" cy="315468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9F6"/>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276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38912"/>
            <a:ext cx="10881360" cy="497205"/>
          </a:xfrm>
          <a:prstGeom prst="rect">
            <a:avLst/>
          </a:prstGeom>
          <a:noFill/>
        </p:spPr>
        <p:txBody>
          <a:bodyPr wrap="square" lIns="27432" tIns="18288" rIns="27432" bIns="18288" anchor="t">
            <a:spAutoFit/>
          </a:bodyPr>
          <a:lstStyle/>
          <a:p>
            <a:pPr algn="l">
              <a:spcAft>
                <a:spcPts val="500"/>
              </a:spcAft>
            </a:pPr>
            <a:r>
              <a:rPr sz="3000" b="1">
                <a:solidFill>
                  <a:srgbClr val="27633D"/>
                </a:solidFill>
                <a:latin typeface="Times New Roman" panose="02020603050405020304" charset="0"/>
                <a:cs typeface="Times New Roman" panose="02020603050405020304" charset="0"/>
              </a:rPr>
              <a:t>Future Enhancements</a:t>
            </a:r>
            <a:endParaRPr sz="3000" b="1">
              <a:solidFill>
                <a:srgbClr val="27633D"/>
              </a:solidFill>
              <a:latin typeface="Times New Roman" panose="02020603050405020304" charset="0"/>
              <a:cs typeface="Times New Roman" panose="02020603050405020304" charset="0"/>
            </a:endParaRPr>
          </a:p>
        </p:txBody>
      </p:sp>
      <p:sp>
        <p:nvSpPr>
          <p:cNvPr id="4" name="TextBox 3"/>
          <p:cNvSpPr txBox="1"/>
          <p:nvPr/>
        </p:nvSpPr>
        <p:spPr>
          <a:xfrm>
            <a:off x="9326880" y="6473952"/>
            <a:ext cx="2240280" cy="182880"/>
          </a:xfrm>
          <a:prstGeom prst="rect">
            <a:avLst/>
          </a:prstGeom>
          <a:noFill/>
        </p:spPr>
        <p:txBody>
          <a:bodyPr wrap="square" lIns="27432" tIns="18288" rIns="27432" bIns="18288" anchor="t">
            <a:spAutoFit/>
          </a:bodyPr>
          <a:lstStyle/>
          <a:p>
            <a:pPr algn="r">
              <a:spcAft>
                <a:spcPts val="500"/>
              </a:spcAft>
            </a:pPr>
            <a:r>
              <a:rPr sz="900" b="1">
                <a:solidFill>
                  <a:srgbClr val="646E67"/>
                </a:solidFill>
                <a:latin typeface="Aptos"/>
              </a:rPr>
              <a:t>HYDROPULSE  •  08</a:t>
            </a:r>
            <a:endParaRPr sz="900" b="1">
              <a:solidFill>
                <a:srgbClr val="646E67"/>
              </a:solidFill>
              <a:latin typeface="Aptos"/>
            </a:endParaRPr>
          </a:p>
        </p:txBody>
      </p:sp>
      <p:sp>
        <p:nvSpPr>
          <p:cNvPr id="5" name="Rounded Rectangle 4"/>
          <p:cNvSpPr/>
          <p:nvPr/>
        </p:nvSpPr>
        <p:spPr>
          <a:xfrm>
            <a:off x="822960" y="1417320"/>
            <a:ext cx="3246120" cy="1600200"/>
          </a:xfrm>
          <a:prstGeom prst="roundRect">
            <a:avLst/>
          </a:prstGeom>
          <a:solidFill>
            <a:srgbClr val="FFFFFF"/>
          </a:solidFill>
          <a:ln w="15240">
            <a:solidFill>
              <a:srgbClr val="D0E7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24128" y="1600200"/>
            <a:ext cx="2843784" cy="296545"/>
          </a:xfrm>
          <a:prstGeom prst="rect">
            <a:avLst/>
          </a:prstGeom>
          <a:noFill/>
        </p:spPr>
        <p:txBody>
          <a:bodyPr wrap="square" lIns="27432" tIns="18288" rIns="27432" bIns="18288" anchor="t">
            <a:spAutoFit/>
          </a:bodyPr>
          <a:lstStyle/>
          <a:p>
            <a:pPr algn="l">
              <a:spcAft>
                <a:spcPts val="500"/>
              </a:spcAft>
            </a:pPr>
            <a:r>
              <a:rPr sz="1700" b="1">
                <a:solidFill>
                  <a:srgbClr val="27633D"/>
                </a:solidFill>
                <a:latin typeface="Times New Roman" panose="02020603050405020304" charset="0"/>
                <a:cs typeface="Times New Roman" panose="02020603050405020304" charset="0"/>
              </a:rPr>
              <a:t>Real-time IoT</a:t>
            </a:r>
            <a:endParaRPr sz="1700" b="1">
              <a:solidFill>
                <a:srgbClr val="27633D"/>
              </a:solidFill>
              <a:latin typeface="Times New Roman" panose="02020603050405020304" charset="0"/>
              <a:cs typeface="Times New Roman" panose="02020603050405020304" charset="0"/>
            </a:endParaRPr>
          </a:p>
        </p:txBody>
      </p:sp>
      <p:sp>
        <p:nvSpPr>
          <p:cNvPr id="7" name="TextBox 6"/>
          <p:cNvSpPr txBox="1"/>
          <p:nvPr/>
        </p:nvSpPr>
        <p:spPr>
          <a:xfrm>
            <a:off x="1024128" y="2075688"/>
            <a:ext cx="2843784" cy="466090"/>
          </a:xfrm>
          <a:prstGeom prst="rect">
            <a:avLst/>
          </a:prstGeom>
          <a:noFill/>
        </p:spPr>
        <p:txBody>
          <a:bodyPr wrap="square" lIns="27432" tIns="18288" rIns="27432" bIns="18288" anchor="t">
            <a:spAutoFit/>
          </a:bodyPr>
          <a:lstStyle/>
          <a:p>
            <a:pPr algn="l">
              <a:spcAft>
                <a:spcPts val="500"/>
              </a:spcAft>
            </a:pPr>
            <a:r>
              <a:rPr sz="1400" b="0">
                <a:solidFill>
                  <a:srgbClr val="28302A"/>
                </a:solidFill>
                <a:latin typeface="Times New Roman" panose="02020603050405020304" charset="0"/>
                <a:cs typeface="Times New Roman" panose="02020603050405020304" charset="0"/>
              </a:rPr>
              <a:t>Connect physical sensor</a:t>
            </a:r>
            <a:r>
              <a:rPr lang="en-US" sz="1400" b="0">
                <a:solidFill>
                  <a:srgbClr val="28302A"/>
                </a:solidFill>
                <a:latin typeface="Times New Roman" panose="02020603050405020304" charset="0"/>
                <a:cs typeface="Times New Roman" panose="02020603050405020304" charset="0"/>
              </a:rPr>
              <a:t>s f</a:t>
            </a:r>
            <a:r>
              <a:rPr lang="en-US" altLang="en-US" sz="1400" b="0">
                <a:solidFill>
                  <a:srgbClr val="28302A"/>
                </a:solidFill>
                <a:latin typeface="Times New Roman" panose="02020603050405020304" charset="0"/>
                <a:cs typeface="Times New Roman" panose="02020603050405020304" charset="0"/>
              </a:rPr>
              <a:t>or live water readings.</a:t>
            </a:r>
            <a:endParaRPr lang="en-US" altLang="en-US" sz="1400" b="0">
              <a:solidFill>
                <a:srgbClr val="28302A"/>
              </a:solidFill>
              <a:latin typeface="Times New Roman" panose="02020603050405020304" charset="0"/>
              <a:cs typeface="Times New Roman" panose="02020603050405020304" charset="0"/>
            </a:endParaRPr>
          </a:p>
        </p:txBody>
      </p:sp>
      <p:sp>
        <p:nvSpPr>
          <p:cNvPr id="8" name="Rounded Rectangle 7"/>
          <p:cNvSpPr/>
          <p:nvPr/>
        </p:nvSpPr>
        <p:spPr>
          <a:xfrm>
            <a:off x="4434840" y="1417320"/>
            <a:ext cx="3246120" cy="1600200"/>
          </a:xfrm>
          <a:prstGeom prst="roundRect">
            <a:avLst/>
          </a:prstGeom>
          <a:solidFill>
            <a:srgbClr val="FFFFFF"/>
          </a:solidFill>
          <a:ln w="15240">
            <a:solidFill>
              <a:srgbClr val="D0E7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36007" y="1600200"/>
            <a:ext cx="2843784" cy="296545"/>
          </a:xfrm>
          <a:prstGeom prst="rect">
            <a:avLst/>
          </a:prstGeom>
          <a:noFill/>
        </p:spPr>
        <p:txBody>
          <a:bodyPr wrap="square" lIns="27432" tIns="18288" rIns="27432" bIns="18288" anchor="t">
            <a:spAutoFit/>
          </a:bodyPr>
          <a:lstStyle/>
          <a:p>
            <a:pPr algn="l">
              <a:spcAft>
                <a:spcPts val="500"/>
              </a:spcAft>
            </a:pPr>
            <a:r>
              <a:rPr sz="1700" b="1">
                <a:solidFill>
                  <a:srgbClr val="27633D"/>
                </a:solidFill>
                <a:latin typeface="Times New Roman" panose="02020603050405020304" charset="0"/>
                <a:cs typeface="Times New Roman" panose="02020603050405020304" charset="0"/>
              </a:rPr>
              <a:t>Automatic control</a:t>
            </a:r>
            <a:endParaRPr sz="1700" b="1">
              <a:solidFill>
                <a:srgbClr val="27633D"/>
              </a:solidFill>
              <a:latin typeface="Times New Roman" panose="02020603050405020304" charset="0"/>
              <a:cs typeface="Times New Roman" panose="02020603050405020304" charset="0"/>
            </a:endParaRPr>
          </a:p>
        </p:txBody>
      </p:sp>
      <p:sp>
        <p:nvSpPr>
          <p:cNvPr id="10" name="TextBox 9"/>
          <p:cNvSpPr txBox="1"/>
          <p:nvPr/>
        </p:nvSpPr>
        <p:spPr>
          <a:xfrm>
            <a:off x="4636007" y="2075688"/>
            <a:ext cx="2843784" cy="250825"/>
          </a:xfrm>
          <a:prstGeom prst="rect">
            <a:avLst/>
          </a:prstGeom>
          <a:noFill/>
        </p:spPr>
        <p:txBody>
          <a:bodyPr wrap="square" lIns="27432" tIns="18288" rIns="27432" bIns="18288" anchor="t">
            <a:spAutoFit/>
          </a:bodyPr>
          <a:lstStyle/>
          <a:p>
            <a:pPr algn="l">
              <a:spcAft>
                <a:spcPts val="500"/>
              </a:spcAft>
            </a:pPr>
            <a:r>
              <a:rPr sz="1400" b="0">
                <a:solidFill>
                  <a:srgbClr val="28302A"/>
                </a:solidFill>
                <a:latin typeface="Times New Roman" panose="02020603050405020304" charset="0"/>
                <a:cs typeface="Times New Roman" panose="02020603050405020304" charset="0"/>
              </a:rPr>
              <a:t>Control pumps </a:t>
            </a:r>
            <a:r>
              <a:rPr lang="en-US" sz="1400" b="0">
                <a:solidFill>
                  <a:srgbClr val="28302A"/>
                </a:solidFill>
                <a:latin typeface="Times New Roman" panose="02020603050405020304" charset="0"/>
                <a:cs typeface="Times New Roman" panose="02020603050405020304" charset="0"/>
              </a:rPr>
              <a:t>based on water levels</a:t>
            </a:r>
            <a:r>
              <a:rPr sz="1400" b="0">
                <a:solidFill>
                  <a:srgbClr val="28302A"/>
                </a:solidFill>
                <a:latin typeface="Times New Roman" panose="02020603050405020304" charset="0"/>
                <a:cs typeface="Times New Roman" panose="02020603050405020304" charset="0"/>
              </a:rPr>
              <a:t>.</a:t>
            </a:r>
            <a:endParaRPr sz="1400" b="0">
              <a:solidFill>
                <a:srgbClr val="28302A"/>
              </a:solidFill>
              <a:latin typeface="Times New Roman" panose="02020603050405020304" charset="0"/>
              <a:cs typeface="Times New Roman" panose="02020603050405020304" charset="0"/>
            </a:endParaRPr>
          </a:p>
        </p:txBody>
      </p:sp>
      <p:sp>
        <p:nvSpPr>
          <p:cNvPr id="11" name="Rounded Rectangle 10"/>
          <p:cNvSpPr/>
          <p:nvPr/>
        </p:nvSpPr>
        <p:spPr>
          <a:xfrm>
            <a:off x="8046720" y="1417320"/>
            <a:ext cx="3246120" cy="1600200"/>
          </a:xfrm>
          <a:prstGeom prst="roundRect">
            <a:avLst/>
          </a:prstGeom>
          <a:solidFill>
            <a:srgbClr val="FFFFFF"/>
          </a:solidFill>
          <a:ln w="15240">
            <a:solidFill>
              <a:srgbClr val="D0E7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47888" y="1600200"/>
            <a:ext cx="2843784" cy="296545"/>
          </a:xfrm>
          <a:prstGeom prst="rect">
            <a:avLst/>
          </a:prstGeom>
          <a:noFill/>
        </p:spPr>
        <p:txBody>
          <a:bodyPr wrap="square" lIns="27432" tIns="18288" rIns="27432" bIns="18288" anchor="t">
            <a:spAutoFit/>
          </a:bodyPr>
          <a:lstStyle/>
          <a:p>
            <a:pPr algn="l">
              <a:spcAft>
                <a:spcPts val="500"/>
              </a:spcAft>
            </a:pPr>
            <a:r>
              <a:rPr sz="1700" b="1">
                <a:solidFill>
                  <a:srgbClr val="27633D"/>
                </a:solidFill>
                <a:latin typeface="Times New Roman" panose="02020603050405020304" charset="0"/>
                <a:cs typeface="Times New Roman" panose="02020603050405020304" charset="0"/>
              </a:rPr>
              <a:t>Mobile app</a:t>
            </a:r>
            <a:endParaRPr sz="1700" b="1">
              <a:solidFill>
                <a:srgbClr val="27633D"/>
              </a:solidFill>
              <a:latin typeface="Times New Roman" panose="02020603050405020304" charset="0"/>
              <a:cs typeface="Times New Roman" panose="02020603050405020304" charset="0"/>
            </a:endParaRPr>
          </a:p>
        </p:txBody>
      </p:sp>
      <p:sp>
        <p:nvSpPr>
          <p:cNvPr id="13" name="TextBox 12"/>
          <p:cNvSpPr txBox="1"/>
          <p:nvPr/>
        </p:nvSpPr>
        <p:spPr>
          <a:xfrm>
            <a:off x="8247888" y="2075688"/>
            <a:ext cx="2843784" cy="250825"/>
          </a:xfrm>
          <a:prstGeom prst="rect">
            <a:avLst/>
          </a:prstGeom>
          <a:noFill/>
        </p:spPr>
        <p:txBody>
          <a:bodyPr wrap="square" lIns="27432" tIns="18288" rIns="27432" bIns="18288" anchor="t">
            <a:spAutoFit/>
          </a:bodyPr>
          <a:lstStyle/>
          <a:p>
            <a:pPr algn="l">
              <a:spcAft>
                <a:spcPts val="500"/>
              </a:spcAft>
            </a:pPr>
            <a:r>
              <a:rPr sz="1400" b="0">
                <a:solidFill>
                  <a:srgbClr val="28302A"/>
                </a:solidFill>
                <a:latin typeface="Times New Roman" panose="02020603050405020304" charset="0"/>
                <a:cs typeface="Times New Roman" panose="02020603050405020304" charset="0"/>
              </a:rPr>
              <a:t>Monitor the system on a phone.</a:t>
            </a:r>
            <a:endParaRPr sz="1400" b="0">
              <a:solidFill>
                <a:srgbClr val="28302A"/>
              </a:solidFill>
              <a:latin typeface="Times New Roman" panose="02020603050405020304" charset="0"/>
              <a:cs typeface="Times New Roman" panose="02020603050405020304" charset="0"/>
            </a:endParaRPr>
          </a:p>
        </p:txBody>
      </p:sp>
      <p:sp>
        <p:nvSpPr>
          <p:cNvPr id="14" name="Rounded Rectangle 13"/>
          <p:cNvSpPr/>
          <p:nvPr/>
        </p:nvSpPr>
        <p:spPr>
          <a:xfrm>
            <a:off x="822960" y="3657600"/>
            <a:ext cx="3246120" cy="1600200"/>
          </a:xfrm>
          <a:prstGeom prst="roundRect">
            <a:avLst/>
          </a:prstGeom>
          <a:solidFill>
            <a:srgbClr val="FFFFFF"/>
          </a:solidFill>
          <a:ln w="15240">
            <a:solidFill>
              <a:srgbClr val="D0E7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24128" y="3840480"/>
            <a:ext cx="2843784" cy="296545"/>
          </a:xfrm>
          <a:prstGeom prst="rect">
            <a:avLst/>
          </a:prstGeom>
          <a:noFill/>
        </p:spPr>
        <p:txBody>
          <a:bodyPr wrap="square" lIns="27432" tIns="18288" rIns="27432" bIns="18288" anchor="t">
            <a:spAutoFit/>
          </a:bodyPr>
          <a:lstStyle/>
          <a:p>
            <a:pPr algn="l">
              <a:spcAft>
                <a:spcPts val="500"/>
              </a:spcAft>
            </a:pPr>
            <a:r>
              <a:rPr sz="1700" b="1">
                <a:solidFill>
                  <a:srgbClr val="27633D"/>
                </a:solidFill>
                <a:latin typeface="Times New Roman" panose="02020603050405020304" charset="0"/>
                <a:cs typeface="Times New Roman" panose="02020603050405020304" charset="0"/>
              </a:rPr>
              <a:t>Cloud storage</a:t>
            </a:r>
            <a:endParaRPr sz="1700" b="1">
              <a:solidFill>
                <a:srgbClr val="27633D"/>
              </a:solidFill>
              <a:latin typeface="Times New Roman" panose="02020603050405020304" charset="0"/>
              <a:cs typeface="Times New Roman" panose="02020603050405020304" charset="0"/>
            </a:endParaRPr>
          </a:p>
        </p:txBody>
      </p:sp>
      <p:sp>
        <p:nvSpPr>
          <p:cNvPr id="16" name="TextBox 15"/>
          <p:cNvSpPr txBox="1"/>
          <p:nvPr/>
        </p:nvSpPr>
        <p:spPr>
          <a:xfrm>
            <a:off x="1024128" y="4315968"/>
            <a:ext cx="2843784" cy="466090"/>
          </a:xfrm>
          <a:prstGeom prst="rect">
            <a:avLst/>
          </a:prstGeom>
          <a:noFill/>
        </p:spPr>
        <p:txBody>
          <a:bodyPr wrap="square" lIns="27432" tIns="18288" rIns="27432" bIns="18288" anchor="t">
            <a:spAutoFit/>
          </a:bodyPr>
          <a:lstStyle/>
          <a:p>
            <a:pPr algn="l">
              <a:spcAft>
                <a:spcPts val="500"/>
              </a:spcAft>
            </a:pPr>
            <a:r>
              <a:rPr lang="en-US" altLang="en-US" sz="1400" b="0">
                <a:solidFill>
                  <a:srgbClr val="28302A"/>
                </a:solidFill>
                <a:latin typeface="Times New Roman" panose="02020603050405020304" charset="0"/>
                <a:cs typeface="Times New Roman" panose="02020603050405020304" charset="0"/>
              </a:rPr>
              <a:t>Store readings and access records remotely.</a:t>
            </a:r>
            <a:endParaRPr lang="en-US" altLang="en-US" sz="1400" b="0">
              <a:solidFill>
                <a:srgbClr val="28302A"/>
              </a:solidFill>
              <a:latin typeface="Times New Roman" panose="02020603050405020304" charset="0"/>
              <a:cs typeface="Times New Roman" panose="02020603050405020304" charset="0"/>
            </a:endParaRPr>
          </a:p>
        </p:txBody>
      </p:sp>
      <p:sp>
        <p:nvSpPr>
          <p:cNvPr id="17" name="Rounded Rectangle 16"/>
          <p:cNvSpPr/>
          <p:nvPr/>
        </p:nvSpPr>
        <p:spPr>
          <a:xfrm>
            <a:off x="4434840" y="3657600"/>
            <a:ext cx="3246120" cy="1600200"/>
          </a:xfrm>
          <a:prstGeom prst="roundRect">
            <a:avLst/>
          </a:prstGeom>
          <a:solidFill>
            <a:srgbClr val="FFFFFF"/>
          </a:solidFill>
          <a:ln w="15240">
            <a:solidFill>
              <a:srgbClr val="D0E7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36007" y="3840480"/>
            <a:ext cx="2843784" cy="296545"/>
          </a:xfrm>
          <a:prstGeom prst="rect">
            <a:avLst/>
          </a:prstGeom>
          <a:noFill/>
        </p:spPr>
        <p:txBody>
          <a:bodyPr wrap="square" lIns="27432" tIns="18288" rIns="27432" bIns="18288" anchor="t">
            <a:spAutoFit/>
          </a:bodyPr>
          <a:lstStyle/>
          <a:p>
            <a:pPr algn="l">
              <a:spcAft>
                <a:spcPts val="500"/>
              </a:spcAft>
            </a:pPr>
            <a:r>
              <a:rPr sz="1700" b="1">
                <a:solidFill>
                  <a:srgbClr val="27633D"/>
                </a:solidFill>
                <a:latin typeface="Times New Roman" panose="02020603050405020304" charset="0"/>
                <a:cs typeface="Times New Roman" panose="02020603050405020304" charset="0"/>
              </a:rPr>
              <a:t>Smart alerts</a:t>
            </a:r>
            <a:endParaRPr sz="1700" b="1">
              <a:solidFill>
                <a:srgbClr val="27633D"/>
              </a:solidFill>
              <a:latin typeface="Times New Roman" panose="02020603050405020304" charset="0"/>
              <a:cs typeface="Times New Roman" panose="02020603050405020304" charset="0"/>
            </a:endParaRPr>
          </a:p>
        </p:txBody>
      </p:sp>
      <p:sp>
        <p:nvSpPr>
          <p:cNvPr id="19" name="TextBox 18"/>
          <p:cNvSpPr txBox="1"/>
          <p:nvPr/>
        </p:nvSpPr>
        <p:spPr>
          <a:xfrm>
            <a:off x="4636007" y="4315968"/>
            <a:ext cx="2843784" cy="466090"/>
          </a:xfrm>
          <a:prstGeom prst="rect">
            <a:avLst/>
          </a:prstGeom>
          <a:noFill/>
        </p:spPr>
        <p:txBody>
          <a:bodyPr wrap="square" lIns="27432" tIns="18288" rIns="27432" bIns="18288" anchor="t">
            <a:spAutoFit/>
          </a:bodyPr>
          <a:lstStyle/>
          <a:p>
            <a:pPr algn="l">
              <a:spcAft>
                <a:spcPts val="500"/>
              </a:spcAft>
            </a:pPr>
            <a:r>
              <a:rPr lang="en-US" altLang="en-US" sz="1400" b="0">
                <a:solidFill>
                  <a:srgbClr val="28302A"/>
                </a:solidFill>
                <a:latin typeface="Times New Roman" panose="02020603050405020304" charset="0"/>
                <a:cs typeface="Times New Roman" panose="02020603050405020304" charset="0"/>
              </a:rPr>
              <a:t>Notify users about abnormal water conditions.</a:t>
            </a:r>
            <a:endParaRPr lang="en-US" altLang="en-US" sz="1400" b="0">
              <a:solidFill>
                <a:srgbClr val="28302A"/>
              </a:solidFill>
              <a:latin typeface="Times New Roman" panose="02020603050405020304" charset="0"/>
              <a:cs typeface="Times New Roman" panose="02020603050405020304" charset="0"/>
            </a:endParaRPr>
          </a:p>
        </p:txBody>
      </p:sp>
      <p:sp>
        <p:nvSpPr>
          <p:cNvPr id="20" name="Rounded Rectangle 19"/>
          <p:cNvSpPr/>
          <p:nvPr/>
        </p:nvSpPr>
        <p:spPr>
          <a:xfrm>
            <a:off x="8046720" y="3657600"/>
            <a:ext cx="3246120" cy="1600200"/>
          </a:xfrm>
          <a:prstGeom prst="roundRect">
            <a:avLst/>
          </a:prstGeom>
          <a:solidFill>
            <a:srgbClr val="FFFFFF"/>
          </a:solidFill>
          <a:ln w="15240">
            <a:solidFill>
              <a:srgbClr val="D0E7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47888" y="3840480"/>
            <a:ext cx="2843784" cy="296545"/>
          </a:xfrm>
          <a:prstGeom prst="rect">
            <a:avLst/>
          </a:prstGeom>
          <a:noFill/>
        </p:spPr>
        <p:txBody>
          <a:bodyPr wrap="square" lIns="27432" tIns="18288" rIns="27432" bIns="18288" anchor="t">
            <a:spAutoFit/>
          </a:bodyPr>
          <a:lstStyle/>
          <a:p>
            <a:pPr algn="l">
              <a:spcAft>
                <a:spcPts val="500"/>
              </a:spcAft>
            </a:pPr>
            <a:r>
              <a:rPr sz="1700" b="1">
                <a:solidFill>
                  <a:srgbClr val="27633D"/>
                </a:solidFill>
                <a:latin typeface="Times New Roman" panose="02020603050405020304" charset="0"/>
                <a:cs typeface="Times New Roman" panose="02020603050405020304" charset="0"/>
              </a:rPr>
              <a:t>AI prediction</a:t>
            </a:r>
            <a:endParaRPr sz="1700" b="1">
              <a:solidFill>
                <a:srgbClr val="27633D"/>
              </a:solidFill>
              <a:latin typeface="Times New Roman" panose="02020603050405020304" charset="0"/>
              <a:cs typeface="Times New Roman" panose="02020603050405020304" charset="0"/>
            </a:endParaRPr>
          </a:p>
        </p:txBody>
      </p:sp>
      <p:sp>
        <p:nvSpPr>
          <p:cNvPr id="22" name="TextBox 21"/>
          <p:cNvSpPr txBox="1"/>
          <p:nvPr/>
        </p:nvSpPr>
        <p:spPr>
          <a:xfrm>
            <a:off x="8247888" y="4315968"/>
            <a:ext cx="2843784" cy="466090"/>
          </a:xfrm>
          <a:prstGeom prst="rect">
            <a:avLst/>
          </a:prstGeom>
          <a:noFill/>
        </p:spPr>
        <p:txBody>
          <a:bodyPr wrap="square" lIns="27432" tIns="18288" rIns="27432" bIns="18288" anchor="t">
            <a:spAutoFit/>
          </a:bodyPr>
          <a:lstStyle/>
          <a:p>
            <a:pPr algn="l">
              <a:spcAft>
                <a:spcPts val="500"/>
              </a:spcAft>
            </a:pPr>
            <a:r>
              <a:rPr lang="en-US" altLang="en-US" sz="1400" b="0">
                <a:solidFill>
                  <a:srgbClr val="28302A"/>
                </a:solidFill>
                <a:latin typeface="Times New Roman" panose="02020603050405020304" charset="0"/>
                <a:cs typeface="Times New Roman" panose="02020603050405020304" charset="0"/>
              </a:rPr>
              <a:t>Analyze historical data to estimate water usage.</a:t>
            </a:r>
            <a:endParaRPr lang="en-US" altLang="en-US" sz="1400" b="0">
              <a:solidFill>
                <a:srgbClr val="28302A"/>
              </a:solidFill>
              <a:latin typeface="Times New Roman" panose="02020603050405020304" charset="0"/>
              <a:cs typeface="Times New Roman" panose="0202060305040502030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9F6"/>
        </a:solidFill>
        <a:effectLst/>
      </p:bgPr>
    </p:bg>
    <p:spTree>
      <p:nvGrpSpPr>
        <p:cNvPr id="1" name=""/>
        <p:cNvGrpSpPr/>
        <p:nvPr/>
      </p:nvGrpSpPr>
      <p:grpSpPr/>
      <p:sp>
        <p:nvSpPr>
          <p:cNvPr id="8" name="TextBox 7"/>
          <p:cNvSpPr txBox="1"/>
          <p:nvPr/>
        </p:nvSpPr>
        <p:spPr>
          <a:xfrm>
            <a:off x="2248535" y="2809240"/>
            <a:ext cx="7132320" cy="619760"/>
          </a:xfrm>
          <a:prstGeom prst="rect">
            <a:avLst/>
          </a:prstGeom>
          <a:noFill/>
        </p:spPr>
        <p:txBody>
          <a:bodyPr wrap="square" lIns="27432" tIns="18288" rIns="27432" bIns="18288" anchor="t">
            <a:spAutoFit/>
          </a:bodyPr>
          <a:lstStyle/>
          <a:p>
            <a:pPr algn="ctr"/>
            <a:r>
              <a:rPr sz="3800" b="1">
                <a:solidFill>
                  <a:srgbClr val="27633D"/>
                </a:solidFill>
                <a:latin typeface="Times New Roman" panose="02020603050405020304" charset="0"/>
                <a:cs typeface="Times New Roman" panose="02020603050405020304" charset="0"/>
              </a:rPr>
              <a:t>THANK YOU</a:t>
            </a:r>
            <a:r>
              <a:rPr lang="en-IN" sz="3800" b="1">
                <a:solidFill>
                  <a:srgbClr val="27633D"/>
                </a:solidFill>
                <a:latin typeface="Times New Roman" panose="02020603050405020304" charset="0"/>
                <a:cs typeface="Times New Roman" panose="02020603050405020304" charset="0"/>
              </a:rPr>
              <a:t>!</a:t>
            </a:r>
            <a:endParaRPr lang="en-IN" sz="3800" b="1">
              <a:solidFill>
                <a:srgbClr val="27633D"/>
              </a:solidFill>
              <a:latin typeface="Times New Roman" panose="02020603050405020304" charset="0"/>
              <a:cs typeface="Times New Roman" panose="02020603050405020304" charset="0"/>
            </a:endParaRPr>
          </a:p>
        </p:txBody>
      </p:sp>
      <p:sp>
        <p:nvSpPr>
          <p:cNvPr id="9" name="Rectangle 8"/>
          <p:cNvSpPr/>
          <p:nvPr/>
        </p:nvSpPr>
        <p:spPr>
          <a:xfrm>
            <a:off x="5243195" y="3533140"/>
            <a:ext cx="1143000" cy="73152"/>
          </a:xfrm>
          <a:prstGeom prst="rect">
            <a:avLst/>
          </a:prstGeom>
          <a:solidFill>
            <a:srgbClr val="276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248535" y="3897630"/>
            <a:ext cx="7498079" cy="365760"/>
          </a:xfrm>
          <a:prstGeom prst="rect">
            <a:avLst/>
          </a:prstGeom>
          <a:noFill/>
        </p:spPr>
        <p:txBody>
          <a:bodyPr wrap="square" lIns="27432" tIns="18288" rIns="27432" bIns="18288" anchor="t">
            <a:spAutoFit/>
          </a:bodyPr>
          <a:lstStyle/>
          <a:p>
            <a:pPr algn="ctr"/>
            <a:r>
              <a:rPr sz="1400" b="1">
                <a:solidFill>
                  <a:srgbClr val="646E67"/>
                </a:solidFill>
                <a:latin typeface="Aptos"/>
              </a:rPr>
              <a:t>Team No. 14  •  I. Joshitha  •  M. Surarichita Laxmi</a:t>
            </a:r>
            <a:endParaRPr sz="1400" b="1">
              <a:solidFill>
                <a:srgbClr val="646E67"/>
              </a:solidFill>
              <a:latin typeface="Aptos"/>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3312</Words>
  <Application>WPS Presentation</Application>
  <PresentationFormat>On-screen Show (4:3)</PresentationFormat>
  <Paragraphs>158</Paragraphs>
  <Slides>10</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10</vt:i4>
      </vt:variant>
    </vt:vector>
  </HeadingPairs>
  <TitlesOfParts>
    <vt:vector size="21" baseType="lpstr">
      <vt:lpstr>Arial</vt:lpstr>
      <vt:lpstr>SimSun</vt:lpstr>
      <vt:lpstr>Wingdings</vt:lpstr>
      <vt:lpstr>Arial</vt:lpstr>
      <vt:lpstr>Times New Roman</vt:lpstr>
      <vt:lpstr>Aptos</vt:lpstr>
      <vt:lpstr>Segoe UI</vt:lpstr>
      <vt:lpstr>Calibri</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Inturi Joshitha</cp:lastModifiedBy>
  <cp:revision>9</cp:revision>
  <dcterms:created xsi:type="dcterms:W3CDTF">2013-01-27T09:14:00Z</dcterms:created>
  <dcterms:modified xsi:type="dcterms:W3CDTF">2026-10-17T04:02:14Z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1033-12.1.0.29162</vt:lpwstr>
  </property>
  <property fmtid="{D5CDD505-2E9C-101B-9397-08002B2CF9AE}" pid="3" name="ICV">
    <vt:lpwstr>0031857E158542949F5F1CF9D10FE366_13</vt:lpwstr>
  </property>
</Properties>
</file>